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9"/>
  </p:notes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18288000" cy="10287000"/>
  <p:notesSz cx="6858000" cy="9144000"/>
  <p:embeddedFontLst>
    <p:embeddedFont>
      <p:font typeface="Microsoft YaHei" panose="020B0503020204020204" pitchFamily="34" charset="-122"/>
      <p:regular r:id="rId10"/>
      <p:bold r:id="rId11"/>
    </p:embeddedFont>
    <p:embeddedFont>
      <p:font typeface="新宋体" panose="02010609030101010101" pitchFamily="49" charset="-122"/>
      <p:regular r:id="rId12"/>
    </p:embeddedFont>
  </p:embeddedFontLst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4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F58A2-528B-4B88-B644-ABF7A26257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23D486-1502-4D1E-8D04-91A53F8F2C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59ABE3-A9BE-4338-BCDD-2EA57F4F150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2026/10/30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2B98D-3DF7-4B3B-8065-19025BAB994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3D4E41-B281-40C5-BE79-E5E1B23A51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33701E10-3514-47B8-BD38-EA4A0C10F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7850" y="9791700"/>
            <a:ext cx="1009650" cy="304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10D25-7DF0-4CB4-ACF4-FC91F00C9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C9B20-A99D-4738-9156-BB52914301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6147C3-78D6-42E0-BF64-953C0929603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2026/10/30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D0FE6A-71E9-44E9-B939-B545D31BD65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51F21-4A45-40C5-B572-83619E34EA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118508B1-123E-46B3-AF0F-2974E0D5F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7850" y="9791700"/>
            <a:ext cx="1009650" cy="304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9C602-CACC-4BFC-BB6B-C31622A9A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392ADB-EB41-4595-9A08-3C06971B39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0ACB0-865C-4F5F-9719-06AE679D8DB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2026/10/30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991CA-134B-45C5-A9EC-C8AA7FA904E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32E57-73CD-4E34-B801-65D62FB616F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7ACC8609-BE13-4195-8878-AD867CE88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7850" y="9791700"/>
            <a:ext cx="1009650" cy="304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9FFF2-CA60-48CD-B446-CD098CC77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7769F-B6FB-4D8F-9608-C5908C2BE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9067F-7454-4F17-A48C-9BE267107F2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D6E680-E0BF-4637-8300-15CAFDCF9EE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2026/10/30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3BC3BC-53BF-4B56-8ADF-542376B1EEF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89ED69-6718-445D-A544-0AE931E3F23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37BFCDEF-6E91-4C42-9A95-B2E688A3F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7850" y="9791700"/>
            <a:ext cx="1009650" cy="304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6137B-417B-4A36-A8DA-785497564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6D6D26-4535-4600-A062-2E7C1F52BF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6BC90A-7FDA-4DF0-942D-C364FCCDFCC6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83F5AA-25FA-4442-975F-AFC16FB9E819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3C6E53-94DE-44B6-97F3-117EA61A72E9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B92D9A-6897-4E49-A834-E4A54AF190C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2026/10/30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9AF799-3365-4BD2-A9BA-60F616D6241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CDD697-FB46-494A-A02A-5E56220310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A6EC6809-049A-49B6-8618-D90BEEAB6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7850" y="9791700"/>
            <a:ext cx="1009650" cy="304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5D302-2328-46EB-AB27-923FE17BD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994859-A504-4E9F-A22F-0B976881462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2026/10/30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DC43D8-FD54-438F-B3D3-BC3A2735207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729A73-6897-432A-9ED5-5D393019259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4F412AC1-97C8-4296-A8E9-819B13D66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7850" y="9791700"/>
            <a:ext cx="1009650" cy="304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A01009-5676-4394-B4C5-9C35D882112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2026/10/30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801AD9-11B3-40AD-8C22-666535A5551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C24561-B4E9-4CC9-9378-83FDB6C5094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6D2EEF8F-4063-49C5-B01C-A1E3FE724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7850" y="9791700"/>
            <a:ext cx="1009650" cy="304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CF096-DDC4-4F81-A0F1-6951E6D98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63A81-61F8-4EB7-BB47-A34F11B0F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CA71E8-0323-4432-A2EE-5D79402F9D2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06211B-AF36-4D69-BDB9-60FAAE6CA3E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2026/10/30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1A4848-2D22-4EC9-88E1-DAEBFA48114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052E9C-7814-43AC-BCF0-F05C1A2FB0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78AF7C0B-A2C1-4645-99B5-B63D3EB2B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7850" y="9791700"/>
            <a:ext cx="1009650" cy="304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C6FE3-80FA-4B70-A37A-A51CDAE07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A9F89F-F31E-4F6E-B898-AA834790BC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9FD3A4-A842-4E0F-8C29-A7F5CB6E51D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E43DC0-8FEC-4FB8-B09D-0090E9DE53F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2026/10/30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8D8B6C-1CE3-4475-9828-4D572C1FFC1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636BE4-FCC4-4A11-B113-4B4E3FDBC5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29479802-E715-4BD9-9C2C-CF7D2C57F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7850" y="9791700"/>
            <a:ext cx="1009650" cy="304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D9CDE-19A6-464A-811F-B8C3CF71B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FE77D5-AAF7-41CC-A7C8-2ACB397B59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CC167-3491-4A3A-BA97-5BF009E089B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2026/10/30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933146-AD5C-4772-873B-6891A3A4278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D14F5-3154-41AB-967B-3EB65649D9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7AA988D5-B7D9-4A2B-A557-75A85CE43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7850" y="9791700"/>
            <a:ext cx="1009650" cy="304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3043F2-D841-4C60-B1E4-9E6DBDAA5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0B76C4-6E02-4D04-A827-16153EC9C9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68D0D9-E16B-44D8-996B-A98326DC893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2026/10/30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6CBB3E-AEDF-437E-9E38-E94244E9398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06F7A-EC50-4A57-A02D-7F0A01E3F6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36D2E14C-1A38-434C-87C5-87C96FD3D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7850" y="9791700"/>
            <a:ext cx="1009650" cy="3048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E11D29-4745-437C-BE33-F90031433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81EFE8-3C80-4190-AA44-E657785673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BB2CDF-19F7-424D-A910-F2FDDF1B1050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t>2026/10/30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F7B20-010B-4772-83DA-84889404C267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7D6440-3067-4997-9FF5-C33EC23D133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AF45D4AE-9A52-41C9-B827-1BB37EA4E21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087850" y="9791700"/>
            <a:ext cx="1009650" cy="3048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B510AA4B-EAB1-43F0-9099-656DD2714CDB}"/>
              </a:ext>
            </a:extLst>
          </p:cNvPr>
          <p:cNvSpPr>
            <a:spLocks noGrp="1"/>
          </p:cNvSpPr>
          <p:nvPr/>
        </p:nvSpPr>
        <p:spPr>
          <a:xfrm>
            <a:off x="1043750" y="2478310"/>
            <a:ext cx="16229933" cy="3185732"/>
          </a:xfrm>
          <a:prstGeom prst="rect">
            <a:avLst/>
          </a:prstGeom>
          <a:noFill/>
          <a:ln>
            <a:noFill/>
          </a:ln>
        </p:spPr>
        <p:txBody>
          <a:bodyPr wrap="none" lIns="95" tIns="215932" rIns="0" bIns="0" anchor="t">
            <a:noAutofit/>
          </a:bodyPr>
          <a:lstStyle/>
          <a:p>
            <a:pPr algn="ctr">
              <a:buNone/>
            </a:pPr>
            <a:r>
              <a:rPr sz="18580" b="1" i="1" dirty="0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</a:rPr>
              <a:t>Python</a:t>
            </a: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7E837CA0-1280-4C3C-AAE5-0A9E997E03A3}"/>
              </a:ext>
            </a:extLst>
          </p:cNvPr>
          <p:cNvSpPr>
            <a:spLocks noGrp="1"/>
          </p:cNvSpPr>
          <p:nvPr/>
        </p:nvSpPr>
        <p:spPr>
          <a:xfrm>
            <a:off x="9158735" y="990600"/>
            <a:ext cx="8114971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C601460F-3B78-4CDF-943D-BD49143636FC}"/>
              </a:ext>
            </a:extLst>
          </p:cNvPr>
          <p:cNvSpPr>
            <a:spLocks noGrp="1"/>
          </p:cNvSpPr>
          <p:nvPr/>
        </p:nvSpPr>
        <p:spPr>
          <a:xfrm>
            <a:off x="1043764" y="9296400"/>
            <a:ext cx="8114971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F3C825FE-7050-4B68-9EB4-950CEEAF3972}"/>
              </a:ext>
            </a:extLst>
          </p:cNvPr>
          <p:cNvSpPr>
            <a:spLocks noGrp="1"/>
          </p:cNvSpPr>
          <p:nvPr/>
        </p:nvSpPr>
        <p:spPr>
          <a:xfrm>
            <a:off x="9618706" y="9037492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4ACCE99-1086-491D-8C55-7F4B8F1560D5}"/>
              </a:ext>
            </a:extLst>
          </p:cNvPr>
          <p:cNvSpPr>
            <a:spLocks noGrp="1"/>
          </p:cNvSpPr>
          <p:nvPr/>
        </p:nvSpPr>
        <p:spPr>
          <a:xfrm>
            <a:off x="2737580" y="5908453"/>
            <a:ext cx="12812935" cy="837819"/>
          </a:xfrm>
          <a:prstGeom prst="rect">
            <a:avLst/>
          </a:prstGeom>
          <a:noFill/>
          <a:ln>
            <a:noFill/>
          </a:ln>
        </p:spPr>
        <p:txBody>
          <a:bodyPr wrap="none" lIns="0" tIns="50822" rIns="95" bIns="0" anchor="t">
            <a:noAutofit/>
          </a:bodyPr>
          <a:lstStyle/>
          <a:p>
            <a:pPr algn="ctr">
              <a:buNone/>
            </a:pPr>
            <a:r>
              <a:rPr sz="4890" dirty="0" err="1">
                <a:solidFill>
                  <a:srgbClr val="0F4662"/>
                </a:solidFill>
                <a:latin typeface="新宋体" panose="02010609030101010101" pitchFamily="49" charset="-122"/>
                <a:ea typeface="新宋体" panose="02010609030101010101" pitchFamily="49" charset="-122"/>
                <a:cs typeface="Microsoft YaHei"/>
              </a:rPr>
              <a:t>城市电力负荷分析与预测</a:t>
            </a:r>
            <a:endParaRPr sz="4890" dirty="0">
              <a:solidFill>
                <a:srgbClr val="0F4662"/>
              </a:solidFill>
              <a:latin typeface="新宋体" panose="02010609030101010101" pitchFamily="49" charset="-122"/>
              <a:ea typeface="新宋体" panose="02010609030101010101" pitchFamily="49" charset="-122"/>
              <a:cs typeface="Microsoft YaHei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E538C9F9-730B-4D9C-94B0-FE8C7B9AD65C}"/>
              </a:ext>
            </a:extLst>
          </p:cNvPr>
          <p:cNvSpPr>
            <a:spLocks noGrp="1"/>
          </p:cNvSpPr>
          <p:nvPr/>
        </p:nvSpPr>
        <p:spPr>
          <a:xfrm>
            <a:off x="5646742" y="807892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669196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6E7C2F-8846-A1A8-9F24-17A55F81B598}"/>
              </a:ext>
            </a:extLst>
          </p:cNvPr>
          <p:cNvSpPr>
            <a:spLocks noGrp="1"/>
          </p:cNvSpPr>
          <p:nvPr/>
        </p:nvSpPr>
        <p:spPr>
          <a:xfrm>
            <a:off x="1134563" y="990599"/>
            <a:ext cx="3206033" cy="1745346"/>
          </a:xfrm>
          <a:prstGeom prst="rect">
            <a:avLst/>
          </a:prstGeom>
          <a:noFill/>
          <a:ln>
            <a:noFill/>
          </a:ln>
        </p:spPr>
        <p:txBody>
          <a:bodyPr wrap="none" lIns="95" tIns="215932" rIns="0" bIns="0" anchor="t">
            <a:noAutofit/>
          </a:bodyPr>
          <a:lstStyle/>
          <a:p>
            <a:pPr algn="ctr">
              <a:buNone/>
            </a:pPr>
            <a:r>
              <a:rPr lang="zh-CN" altLang="en-US" sz="8800" b="1" i="1" dirty="0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</a:rPr>
              <a:t>目录</a:t>
            </a:r>
            <a:endParaRPr sz="8800" b="1" i="1" dirty="0">
              <a:solidFill>
                <a:srgbClr val="0F4662"/>
              </a:solidFill>
              <a:latin typeface="Cormorant Garamond Bold Italics"/>
              <a:ea typeface="Cormorant Garamond Bold Italics"/>
              <a:cs typeface="Cormorant Garamond Bold Italics"/>
            </a:endParaRPr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18D27AFC-F67B-3E3C-EC87-F9EEC12B4349}"/>
              </a:ext>
            </a:extLst>
          </p:cNvPr>
          <p:cNvSpPr>
            <a:spLocks noGrp="1"/>
          </p:cNvSpPr>
          <p:nvPr/>
        </p:nvSpPr>
        <p:spPr>
          <a:xfrm>
            <a:off x="9158735" y="990600"/>
            <a:ext cx="8114971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90082459-7D5E-4FC9-4805-03968F65111A}"/>
              </a:ext>
            </a:extLst>
          </p:cNvPr>
          <p:cNvSpPr>
            <a:spLocks noGrp="1"/>
          </p:cNvSpPr>
          <p:nvPr/>
        </p:nvSpPr>
        <p:spPr>
          <a:xfrm>
            <a:off x="1043764" y="9296400"/>
            <a:ext cx="8114971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5FD4F56A-F9EC-0501-BC47-74E0EBA07601}"/>
              </a:ext>
            </a:extLst>
          </p:cNvPr>
          <p:cNvSpPr>
            <a:spLocks noGrp="1"/>
          </p:cNvSpPr>
          <p:nvPr/>
        </p:nvSpPr>
        <p:spPr>
          <a:xfrm>
            <a:off x="9618706" y="9037492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5D7B7300-E207-164E-28BA-88E303A4C824}"/>
              </a:ext>
            </a:extLst>
          </p:cNvPr>
          <p:cNvSpPr>
            <a:spLocks noGrp="1"/>
          </p:cNvSpPr>
          <p:nvPr/>
        </p:nvSpPr>
        <p:spPr>
          <a:xfrm>
            <a:off x="1753513" y="3672598"/>
            <a:ext cx="6110328" cy="3781939"/>
          </a:xfrm>
          <a:prstGeom prst="rect">
            <a:avLst/>
          </a:prstGeom>
          <a:noFill/>
          <a:ln>
            <a:noFill/>
          </a:ln>
        </p:spPr>
        <p:txBody>
          <a:bodyPr wrap="none" lIns="0" tIns="50822" rIns="95" bIns="0" anchor="t">
            <a:no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zh-CN" altLang="en-US" sz="4800" b="1" i="1" dirty="0">
                <a:solidFill>
                  <a:srgbClr val="0F4662"/>
                </a:solidFill>
                <a:latin typeface="Cormorant Garamond Bold Italics"/>
              </a:rPr>
              <a:t>数据清洗流程</a:t>
            </a:r>
            <a:endParaRPr lang="en-US" altLang="zh-CN" sz="4800" b="1" i="1" dirty="0">
              <a:solidFill>
                <a:srgbClr val="0F4662"/>
              </a:solidFill>
              <a:latin typeface="Cormorant Garamond Bold Italics"/>
            </a:endParaRPr>
          </a:p>
          <a:p>
            <a:endParaRPr lang="en-US" altLang="zh-CN" sz="4800" b="1" i="1" dirty="0">
              <a:solidFill>
                <a:srgbClr val="0F4662"/>
              </a:solidFill>
              <a:latin typeface="Cormorant Garamond Bold Italics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zh-CN" altLang="en-US" sz="4800" b="1" i="1" dirty="0">
                <a:solidFill>
                  <a:srgbClr val="0F4662"/>
                </a:solidFill>
                <a:latin typeface="Cormorant Garamond Bold Italics"/>
              </a:rPr>
              <a:t>模型的建立以及优化</a:t>
            </a:r>
            <a:endParaRPr lang="en-US" altLang="zh-CN" sz="4800" b="1" i="1" dirty="0">
              <a:solidFill>
                <a:srgbClr val="0F4662"/>
              </a:solidFill>
              <a:latin typeface="Cormorant Garamond Bold Italics"/>
            </a:endParaRPr>
          </a:p>
          <a:p>
            <a:endParaRPr lang="en-US" altLang="zh-CN" sz="4800" b="1" i="1" dirty="0">
              <a:solidFill>
                <a:srgbClr val="0F4662"/>
              </a:solidFill>
              <a:latin typeface="Cormorant Garamond Bold Italics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zh-CN" altLang="en-US" sz="4800" b="1" i="1" dirty="0">
                <a:solidFill>
                  <a:srgbClr val="0F4662"/>
                </a:solidFill>
                <a:latin typeface="Cormorant Garamond Bold Italics"/>
              </a:rPr>
              <a:t>图像绘制以及结论</a:t>
            </a:r>
            <a:endParaRPr lang="en-US" altLang="zh-CN" sz="4800" b="1" i="1" dirty="0">
              <a:solidFill>
                <a:srgbClr val="0F4662"/>
              </a:solidFill>
              <a:latin typeface="Cormorant Garamond Bold Italics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altLang="zh-CN" sz="4800" b="1" dirty="0">
              <a:solidFill>
                <a:srgbClr val="0F4662"/>
              </a:solidFill>
              <a:latin typeface="新宋体" panose="02010609030101010101" pitchFamily="49" charset="-122"/>
              <a:ea typeface="新宋体" panose="02010609030101010101" pitchFamily="49" charset="-122"/>
              <a:cs typeface="Microsoft YaHei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altLang="zh-CN" sz="4800" b="1" dirty="0">
              <a:solidFill>
                <a:srgbClr val="0F4662"/>
              </a:solidFill>
              <a:latin typeface="新宋体" panose="02010609030101010101" pitchFamily="49" charset="-122"/>
              <a:ea typeface="新宋体" panose="02010609030101010101" pitchFamily="49" charset="-122"/>
              <a:cs typeface="Microsoft YaHei"/>
            </a:endParaRPr>
          </a:p>
          <a:p>
            <a:pPr algn="ctr"/>
            <a:endParaRPr sz="4800" b="1" dirty="0">
              <a:solidFill>
                <a:srgbClr val="0F4662"/>
              </a:solidFill>
              <a:latin typeface="新宋体" panose="02010609030101010101" pitchFamily="49" charset="-122"/>
              <a:ea typeface="新宋体" panose="02010609030101010101" pitchFamily="49" charset="-122"/>
              <a:cs typeface="Microsoft YaHei"/>
            </a:endParaRPr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A23D4459-B4FE-3610-DCD9-015369D14E70}"/>
              </a:ext>
            </a:extLst>
          </p:cNvPr>
          <p:cNvSpPr>
            <a:spLocks noGrp="1"/>
          </p:cNvSpPr>
          <p:nvPr/>
        </p:nvSpPr>
        <p:spPr>
          <a:xfrm>
            <a:off x="5646742" y="807892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438754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4BF70F24-B678-4B81-8254-60CE0DD8A129}"/>
              </a:ext>
            </a:extLst>
          </p:cNvPr>
          <p:cNvSpPr>
            <a:spLocks noGrp="1"/>
          </p:cNvSpPr>
          <p:nvPr/>
        </p:nvSpPr>
        <p:spPr>
          <a:xfrm>
            <a:off x="14093893" y="15849"/>
            <a:ext cx="4194107" cy="10271151"/>
          </a:xfrm>
          <a:custGeom>
            <a:avLst/>
            <a:gdLst/>
            <a:ahLst/>
            <a:cxnLst/>
            <a:rect l="l" t="t" r="r" b="b"/>
            <a:pathLst>
              <a:path w="1104621" h="2705159">
                <a:moveTo>
                  <a:pt x="0" y="0"/>
                </a:moveTo>
                <a:lnTo>
                  <a:pt x="1104621" y="0"/>
                </a:lnTo>
                <a:lnTo>
                  <a:pt x="1104621" y="2705159"/>
                </a:lnTo>
                <a:lnTo>
                  <a:pt x="0" y="2705159"/>
                </a:lnTo>
                <a:close/>
              </a:path>
            </a:pathLst>
          </a:custGeom>
          <a:solidFill>
            <a:srgbClr val="7994A0"/>
          </a:solidFill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F64DE9C-BD7B-4FE0-B95B-026AC2845672}"/>
              </a:ext>
            </a:extLst>
          </p:cNvPr>
          <p:cNvSpPr>
            <a:spLocks noGrp="1"/>
          </p:cNvSpPr>
          <p:nvPr/>
        </p:nvSpPr>
        <p:spPr>
          <a:xfrm>
            <a:off x="14093893" y="-164977"/>
            <a:ext cx="4194107" cy="10451977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3695"/>
              </a:lnSpc>
              <a:buNone/>
            </a:pPr>
            <a:endParaRPr/>
          </a:p>
        </p:txBody>
      </p:sp>
      <p:sp>
        <p:nvSpPr>
          <p:cNvPr id="12" name="Freeform 4">
            <a:extLst>
              <a:ext uri="{FF2B5EF4-FFF2-40B4-BE49-F238E27FC236}">
                <a16:creationId xmlns:a16="http://schemas.microsoft.com/office/drawing/2014/main" id="{AAA55FCB-78E1-4125-A4AF-246A00B255D0}"/>
              </a:ext>
            </a:extLst>
          </p:cNvPr>
          <p:cNvSpPr>
            <a:spLocks noGrp="1"/>
          </p:cNvSpPr>
          <p:nvPr/>
        </p:nvSpPr>
        <p:spPr>
          <a:xfrm>
            <a:off x="11953876" y="3667126"/>
            <a:ext cx="3302005" cy="3714756"/>
          </a:xfrm>
          <a:custGeom>
            <a:avLst/>
            <a:gdLst/>
            <a:ahLst/>
            <a:cxnLst/>
            <a:rect l="l" t="t" r="r" b="b"/>
            <a:pathLst>
              <a:path w="3302005" h="3714756">
                <a:moveTo>
                  <a:pt x="3302005" y="1444627"/>
                </a:moveTo>
                <a:lnTo>
                  <a:pt x="1857378" y="0"/>
                </a:lnTo>
                <a:lnTo>
                  <a:pt x="0" y="1857378"/>
                </a:lnTo>
                <a:lnTo>
                  <a:pt x="412751" y="1857378"/>
                </a:lnTo>
                <a:lnTo>
                  <a:pt x="412751" y="3302005"/>
                </a:lnTo>
                <a:cubicBezTo>
                  <a:pt x="412751" y="3529961"/>
                  <a:pt x="597545" y="3714756"/>
                  <a:pt x="825501" y="3714756"/>
                </a:cubicBezTo>
                <a:lnTo>
                  <a:pt x="2373316" y="3714756"/>
                </a:lnTo>
              </a:path>
            </a:pathLst>
          </a:custGeom>
          <a:noFill/>
          <a:ln w="412751">
            <a:solidFill>
              <a:srgbClr val="0F4662"/>
            </a:solidFill>
          </a:ln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8C2BB02A-FA22-4462-B76B-93BFF3BC295B}"/>
              </a:ext>
            </a:extLst>
          </p:cNvPr>
          <p:cNvSpPr>
            <a:spLocks noGrp="1"/>
          </p:cNvSpPr>
          <p:nvPr/>
        </p:nvSpPr>
        <p:spPr>
          <a:xfrm>
            <a:off x="13218254" y="5730879"/>
            <a:ext cx="1158178" cy="1651003"/>
          </a:xfrm>
          <a:custGeom>
            <a:avLst/>
            <a:gdLst/>
            <a:ahLst/>
            <a:cxnLst/>
            <a:rect l="l" t="t" r="r" b="b"/>
            <a:pathLst>
              <a:path w="1158178" h="1651003">
                <a:moveTo>
                  <a:pt x="0" y="1651003"/>
                </a:moveTo>
                <a:lnTo>
                  <a:pt x="0" y="412751"/>
                </a:lnTo>
                <a:cubicBezTo>
                  <a:pt x="0" y="184795"/>
                  <a:pt x="184795" y="0"/>
                  <a:pt x="412751" y="0"/>
                </a:cubicBezTo>
                <a:lnTo>
                  <a:pt x="825501" y="0"/>
                </a:lnTo>
                <a:cubicBezTo>
                  <a:pt x="961915" y="0"/>
                  <a:pt x="1083058" y="66040"/>
                  <a:pt x="1158178" y="168196"/>
                </a:cubicBezTo>
              </a:path>
            </a:pathLst>
          </a:custGeom>
          <a:noFill/>
          <a:ln w="412751">
            <a:solidFill>
              <a:srgbClr val="0F4662"/>
            </a:solidFill>
          </a:ln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362F8F80-6535-4045-97A8-87E93562DB69}"/>
              </a:ext>
            </a:extLst>
          </p:cNvPr>
          <p:cNvSpPr>
            <a:spLocks noGrp="1"/>
          </p:cNvSpPr>
          <p:nvPr/>
        </p:nvSpPr>
        <p:spPr>
          <a:xfrm>
            <a:off x="14843130" y="5937254"/>
            <a:ext cx="825501" cy="1651003"/>
          </a:xfrm>
          <a:custGeom>
            <a:avLst/>
            <a:gdLst/>
            <a:ahLst/>
            <a:cxnLst/>
            <a:rect l="l" t="t" r="r" b="b"/>
            <a:pathLst>
              <a:path w="825501" h="1651003">
                <a:moveTo>
                  <a:pt x="412751" y="0"/>
                </a:moveTo>
                <a:lnTo>
                  <a:pt x="0" y="825501"/>
                </a:lnTo>
                <a:lnTo>
                  <a:pt x="825501" y="825501"/>
                </a:lnTo>
                <a:lnTo>
                  <a:pt x="412751" y="1651003"/>
                </a:lnTo>
              </a:path>
            </a:pathLst>
          </a:custGeom>
          <a:noFill/>
          <a:ln w="412751">
            <a:solidFill>
              <a:srgbClr val="0F4662"/>
            </a:solidFill>
          </a:ln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C68A8FC-97B0-4F5E-8C2E-F7251FE68FA4}"/>
              </a:ext>
            </a:extLst>
          </p:cNvPr>
          <p:cNvSpPr>
            <a:spLocks noGrp="1"/>
          </p:cNvSpPr>
          <p:nvPr/>
        </p:nvSpPr>
        <p:spPr>
          <a:xfrm>
            <a:off x="1028700" y="599694"/>
            <a:ext cx="9390221" cy="1085183"/>
          </a:xfrm>
          <a:prstGeom prst="rect">
            <a:avLst/>
          </a:prstGeom>
          <a:noFill/>
          <a:ln>
            <a:noFill/>
          </a:ln>
        </p:spPr>
        <p:txBody>
          <a:bodyPr wrap="none" lIns="0" tIns="25415" rIns="0" bIns="0" anchor="t">
            <a:noAutofit/>
          </a:bodyPr>
          <a:lstStyle/>
          <a:p>
            <a:pPr algn="l">
              <a:buNone/>
            </a:pPr>
            <a:r>
              <a:rPr sz="4400" b="1" dirty="0" err="1">
                <a:solidFill>
                  <a:srgbClr val="0F4662"/>
                </a:solidFill>
                <a:latin typeface="SimSun"/>
                <a:ea typeface="SimSun"/>
                <a:cs typeface="SimSun"/>
              </a:rPr>
              <a:t>数据概况与字段规整</a:t>
            </a:r>
            <a:endParaRPr sz="4400" b="1" dirty="0">
              <a:solidFill>
                <a:srgbClr val="0F4662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1B4BC31-B621-4A88-92C6-5EB0533528B8}"/>
              </a:ext>
            </a:extLst>
          </p:cNvPr>
          <p:cNvSpPr>
            <a:spLocks noGrp="1"/>
          </p:cNvSpPr>
          <p:nvPr/>
        </p:nvSpPr>
        <p:spPr>
          <a:xfrm>
            <a:off x="7797595" y="759314"/>
            <a:ext cx="4379323" cy="658106"/>
          </a:xfrm>
          <a:prstGeom prst="rect">
            <a:avLst/>
          </a:prstGeom>
          <a:noFill/>
          <a:ln>
            <a:noFill/>
          </a:ln>
        </p:spPr>
        <p:txBody>
          <a:bodyPr wrap="none" lIns="0" tIns="50842" r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2800" dirty="0" err="1">
                <a:solidFill>
                  <a:srgbClr val="0F4662"/>
                </a:solidFill>
                <a:latin typeface="Microsoft YaHei"/>
                <a:ea typeface="Microsoft YaHei"/>
                <a:cs typeface="Microsoft YaHei"/>
              </a:rPr>
              <a:t>DateTime设为索引</a:t>
            </a:r>
            <a:endParaRPr sz="2800" dirty="0">
              <a:solidFill>
                <a:srgbClr val="0F4662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F74E3E5E-D4F2-2821-48E2-2DCF6F706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4984" y="2752948"/>
            <a:ext cx="6886625" cy="6953301"/>
          </a:xfrm>
          <a:prstGeom prst="rect">
            <a:avLst/>
          </a:prstGeom>
        </p:spPr>
      </p:pic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B7571F37-32BA-B856-1FDF-6AFE858035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640193"/>
              </p:ext>
            </p:extLst>
          </p:nvPr>
        </p:nvGraphicFramePr>
        <p:xfrm>
          <a:off x="1245326" y="1808068"/>
          <a:ext cx="15116283" cy="94488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679587">
                  <a:extLst>
                    <a:ext uri="{9D8B030D-6E8A-4147-A177-3AD203B41FA5}">
                      <a16:colId xmlns:a16="http://schemas.microsoft.com/office/drawing/2014/main" val="1772659897"/>
                    </a:ext>
                  </a:extLst>
                </a:gridCol>
                <a:gridCol w="1081030">
                  <a:extLst>
                    <a:ext uri="{9D8B030D-6E8A-4147-A177-3AD203B41FA5}">
                      <a16:colId xmlns:a16="http://schemas.microsoft.com/office/drawing/2014/main" val="3503549968"/>
                    </a:ext>
                  </a:extLst>
                </a:gridCol>
                <a:gridCol w="992777">
                  <a:extLst>
                    <a:ext uri="{9D8B030D-6E8A-4147-A177-3AD203B41FA5}">
                      <a16:colId xmlns:a16="http://schemas.microsoft.com/office/drawing/2014/main" val="1195792573"/>
                    </a:ext>
                  </a:extLst>
                </a:gridCol>
                <a:gridCol w="1088571">
                  <a:extLst>
                    <a:ext uri="{9D8B030D-6E8A-4147-A177-3AD203B41FA5}">
                      <a16:colId xmlns:a16="http://schemas.microsoft.com/office/drawing/2014/main" val="2400747057"/>
                    </a:ext>
                  </a:extLst>
                </a:gridCol>
                <a:gridCol w="1924595">
                  <a:extLst>
                    <a:ext uri="{9D8B030D-6E8A-4147-A177-3AD203B41FA5}">
                      <a16:colId xmlns:a16="http://schemas.microsoft.com/office/drawing/2014/main" val="1687264795"/>
                    </a:ext>
                  </a:extLst>
                </a:gridCol>
                <a:gridCol w="1628503">
                  <a:extLst>
                    <a:ext uri="{9D8B030D-6E8A-4147-A177-3AD203B41FA5}">
                      <a16:colId xmlns:a16="http://schemas.microsoft.com/office/drawing/2014/main" val="2846925782"/>
                    </a:ext>
                  </a:extLst>
                </a:gridCol>
                <a:gridCol w="2272937">
                  <a:extLst>
                    <a:ext uri="{9D8B030D-6E8A-4147-A177-3AD203B41FA5}">
                      <a16:colId xmlns:a16="http://schemas.microsoft.com/office/drawing/2014/main" val="384748273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1429856201"/>
                    </a:ext>
                  </a:extLst>
                </a:gridCol>
                <a:gridCol w="2314683">
                  <a:extLst>
                    <a:ext uri="{9D8B030D-6E8A-4147-A177-3AD203B41FA5}">
                      <a16:colId xmlns:a16="http://schemas.microsoft.com/office/drawing/2014/main" val="1301578207"/>
                    </a:ext>
                  </a:extLst>
                </a:gridCol>
              </a:tblGrid>
              <a:tr h="766223">
                <a:tc>
                  <a:txBody>
                    <a:bodyPr/>
                    <a:lstStyle/>
                    <a:p>
                      <a:r>
                        <a:rPr lang="zh-CN" altLang="en-US" sz="2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采样时间点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温度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湿度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风速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辐射流相关变量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辐射流相关变量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区域一负荷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区域二负荷</a:t>
                      </a:r>
                    </a:p>
                    <a:p>
                      <a:endParaRPr lang="zh-CN" altLang="en-US" sz="2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区域三负荷</a:t>
                      </a:r>
                    </a:p>
                    <a:p>
                      <a:endParaRPr lang="zh-CN" altLang="en-US" sz="2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9867757"/>
                  </a:ext>
                </a:extLst>
              </a:tr>
            </a:tbl>
          </a:graphicData>
        </a:graphic>
      </p:graphicFrame>
      <p:pic>
        <p:nvPicPr>
          <p:cNvPr id="17" name="图片 16">
            <a:extLst>
              <a:ext uri="{FF2B5EF4-FFF2-40B4-BE49-F238E27FC236}">
                <a16:creationId xmlns:a16="http://schemas.microsoft.com/office/drawing/2014/main" id="{4A0E907E-DC85-7228-925A-BD1A01FC6B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6029" y="2748186"/>
            <a:ext cx="8067734" cy="6962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522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4D45F8C7-EF3E-409F-95F4-C43B2C2C7C2D}"/>
              </a:ext>
            </a:extLst>
          </p:cNvPr>
          <p:cNvSpPr>
            <a:spLocks noGrp="1"/>
          </p:cNvSpPr>
          <p:nvPr/>
        </p:nvSpPr>
        <p:spPr>
          <a:xfrm>
            <a:off x="13660651" y="0"/>
            <a:ext cx="4627349" cy="10287000"/>
          </a:xfrm>
          <a:custGeom>
            <a:avLst/>
            <a:gdLst/>
            <a:ahLst/>
            <a:cxnLst/>
            <a:rect l="l" t="t" r="r" b="b"/>
            <a:pathLst>
              <a:path w="1218726" h="2709333">
                <a:moveTo>
                  <a:pt x="0" y="0"/>
                </a:moveTo>
                <a:lnTo>
                  <a:pt x="1218726" y="0"/>
                </a:lnTo>
                <a:lnTo>
                  <a:pt x="1218726" y="2709333"/>
                </a:lnTo>
                <a:lnTo>
                  <a:pt x="0" y="2709333"/>
                </a:lnTo>
                <a:close/>
              </a:path>
            </a:pathLst>
          </a:custGeom>
          <a:solidFill>
            <a:srgbClr val="7994A0"/>
          </a:solidFill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1C217F5-519B-4FA2-A9B1-45FF2DBAF82B}"/>
              </a:ext>
            </a:extLst>
          </p:cNvPr>
          <p:cNvSpPr>
            <a:spLocks noGrp="1"/>
          </p:cNvSpPr>
          <p:nvPr/>
        </p:nvSpPr>
        <p:spPr>
          <a:xfrm>
            <a:off x="13660651" y="-470148"/>
            <a:ext cx="4627349" cy="10757148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4080"/>
              </a:lnSpc>
              <a:buNone/>
            </a:pPr>
            <a:endParaRPr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690BD8B-F7B6-424E-A4D0-CD2DE95EA4AA}"/>
              </a:ext>
            </a:extLst>
          </p:cNvPr>
          <p:cNvSpPr>
            <a:spLocks noGrp="1"/>
          </p:cNvSpPr>
          <p:nvPr/>
        </p:nvSpPr>
        <p:spPr>
          <a:xfrm>
            <a:off x="1028700" y="599694"/>
            <a:ext cx="5702808" cy="1085183"/>
          </a:xfrm>
          <a:prstGeom prst="rect">
            <a:avLst/>
          </a:prstGeom>
          <a:noFill/>
          <a:ln>
            <a:noFill/>
          </a:ln>
        </p:spPr>
        <p:txBody>
          <a:bodyPr wrap="none" lIns="0" tIns="25415" rIns="0" bIns="0" anchor="t">
            <a:noAutofit/>
          </a:bodyPr>
          <a:lstStyle/>
          <a:p>
            <a:pPr algn="l">
              <a:buNone/>
            </a:pPr>
            <a:r>
              <a:rPr sz="6400" b="1" dirty="0" err="1">
                <a:solidFill>
                  <a:srgbClr val="0F4662"/>
                </a:solidFill>
                <a:latin typeface="SimSun"/>
                <a:ea typeface="SimSun"/>
                <a:cs typeface="SimSun"/>
              </a:rPr>
              <a:t>数据清洗流程</a:t>
            </a:r>
            <a:endParaRPr sz="6400" b="1" dirty="0">
              <a:solidFill>
                <a:srgbClr val="0F4662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99359A10-6C99-4146-A889-EA408CE5B921}"/>
              </a:ext>
            </a:extLst>
          </p:cNvPr>
          <p:cNvSpPr>
            <a:spLocks noGrp="1"/>
          </p:cNvSpPr>
          <p:nvPr/>
        </p:nvSpPr>
        <p:spPr>
          <a:xfrm>
            <a:off x="1028700" y="2434209"/>
            <a:ext cx="10527792" cy="2028825"/>
          </a:xfrm>
          <a:custGeom>
            <a:avLst/>
            <a:gdLst/>
            <a:ahLst/>
            <a:cxnLst/>
            <a:rect l="l" t="t" r="r" b="b"/>
            <a:pathLst>
              <a:path w="10527792" h="2028825">
                <a:moveTo>
                  <a:pt x="0" y="0"/>
                </a:moveTo>
                <a:lnTo>
                  <a:pt x="10527792" y="0"/>
                </a:lnTo>
                <a:lnTo>
                  <a:pt x="10527792" y="2028825"/>
                </a:lnTo>
                <a:lnTo>
                  <a:pt x="0" y="2028825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D2EC1076-5639-425E-8F45-A8051BEBAE68}"/>
              </a:ext>
            </a:extLst>
          </p:cNvPr>
          <p:cNvSpPr>
            <a:spLocks noGrp="1"/>
          </p:cNvSpPr>
          <p:nvPr/>
        </p:nvSpPr>
        <p:spPr>
          <a:xfrm>
            <a:off x="1275588" y="2535848"/>
            <a:ext cx="508955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2400" dirty="0" err="1">
                <a:solidFill>
                  <a:srgbClr val="0F4662"/>
                </a:solidFill>
                <a:latin typeface="Microsoft YaHei"/>
                <a:ea typeface="Microsoft YaHei"/>
                <a:cs typeface="Microsoft YaHei"/>
              </a:rPr>
              <a:t>使用</a:t>
            </a:r>
            <a:r>
              <a:rPr sz="2400" dirty="0">
                <a:solidFill>
                  <a:srgbClr val="0F4662"/>
                </a:solidFill>
                <a:latin typeface="Microsoft YaHei"/>
                <a:ea typeface="Microsoft YaHei"/>
                <a:cs typeface="Microsoft YaHei"/>
              </a:rPr>
              <a:t> utf-8-sig </a:t>
            </a:r>
            <a:r>
              <a:rPr sz="2400" dirty="0" err="1">
                <a:solidFill>
                  <a:srgbClr val="0F4662"/>
                </a:solidFill>
                <a:latin typeface="Microsoft YaHei"/>
                <a:ea typeface="Microsoft YaHei"/>
                <a:cs typeface="Microsoft YaHei"/>
              </a:rPr>
              <a:t>编码读取</a:t>
            </a:r>
            <a:r>
              <a:rPr sz="2400" dirty="0">
                <a:solidFill>
                  <a:srgbClr val="0F4662"/>
                </a:solidFill>
                <a:latin typeface="Microsoft YaHei"/>
                <a:ea typeface="Microsoft YaHei"/>
                <a:cs typeface="Microsoft YaHei"/>
              </a:rPr>
              <a:t> CSV </a:t>
            </a:r>
            <a:r>
              <a:rPr sz="2400" dirty="0" err="1">
                <a:solidFill>
                  <a:srgbClr val="0F4662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2400" dirty="0">
              <a:solidFill>
                <a:srgbClr val="0F466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E78F34CA-2C7C-43C9-B94D-2CD3692EFF97}"/>
              </a:ext>
            </a:extLst>
          </p:cNvPr>
          <p:cNvSpPr>
            <a:spLocks noGrp="1"/>
          </p:cNvSpPr>
          <p:nvPr/>
        </p:nvSpPr>
        <p:spPr>
          <a:xfrm>
            <a:off x="1275588" y="3572168"/>
            <a:ext cx="648614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2400" dirty="0" err="1">
                <a:solidFill>
                  <a:srgbClr val="0F4662"/>
                </a:solidFill>
                <a:latin typeface="Microsoft YaHei"/>
                <a:ea typeface="Microsoft YaHei"/>
                <a:cs typeface="Microsoft YaHei"/>
              </a:rPr>
              <a:t>按原列顺序统一命名为短名，消除双空格歧义</a:t>
            </a:r>
            <a:endParaRPr sz="2400" dirty="0">
              <a:solidFill>
                <a:srgbClr val="0F466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590C0309-64A9-4BB6-BCBE-A02B550F2FC4}"/>
              </a:ext>
            </a:extLst>
          </p:cNvPr>
          <p:cNvSpPr>
            <a:spLocks noGrp="1"/>
          </p:cNvSpPr>
          <p:nvPr/>
        </p:nvSpPr>
        <p:spPr>
          <a:xfrm>
            <a:off x="1028700" y="5064252"/>
            <a:ext cx="10527792" cy="2028825"/>
          </a:xfrm>
          <a:custGeom>
            <a:avLst/>
            <a:gdLst/>
            <a:ahLst/>
            <a:cxnLst/>
            <a:rect l="l" t="t" r="r" b="b"/>
            <a:pathLst>
              <a:path w="10527792" h="2028825">
                <a:moveTo>
                  <a:pt x="0" y="0"/>
                </a:moveTo>
                <a:lnTo>
                  <a:pt x="10527792" y="0"/>
                </a:lnTo>
                <a:lnTo>
                  <a:pt x="10527792" y="2028825"/>
                </a:lnTo>
                <a:lnTo>
                  <a:pt x="0" y="2028825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4C9A381F-9158-4309-B7B5-59E5DDCEAF83}"/>
              </a:ext>
            </a:extLst>
          </p:cNvPr>
          <p:cNvSpPr>
            <a:spLocks noGrp="1"/>
          </p:cNvSpPr>
          <p:nvPr/>
        </p:nvSpPr>
        <p:spPr>
          <a:xfrm>
            <a:off x="1275588" y="5165890"/>
            <a:ext cx="5118125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2400" dirty="0" err="1">
                <a:solidFill>
                  <a:srgbClr val="0F4662"/>
                </a:solidFill>
                <a:latin typeface="Microsoft YaHei"/>
                <a:ea typeface="Microsoft YaHei"/>
                <a:cs typeface="Microsoft YaHei"/>
              </a:rPr>
              <a:t>按“月</a:t>
            </a:r>
            <a:r>
              <a:rPr sz="2400" dirty="0">
                <a:solidFill>
                  <a:srgbClr val="0F4662"/>
                </a:solidFill>
                <a:latin typeface="Microsoft YaHei"/>
                <a:ea typeface="Microsoft YaHei"/>
                <a:cs typeface="Microsoft YaHei"/>
              </a:rPr>
              <a:t>/日/年 时:分”解析 </a:t>
            </a:r>
            <a:r>
              <a:rPr sz="2400" dirty="0" err="1">
                <a:solidFill>
                  <a:srgbClr val="0F4662"/>
                </a:solidFill>
                <a:latin typeface="Microsoft YaHei"/>
                <a:ea typeface="Microsoft YaHei"/>
                <a:cs typeface="Microsoft YaHei"/>
              </a:rPr>
              <a:t>DateTime</a:t>
            </a:r>
            <a:endParaRPr sz="2400" dirty="0">
              <a:solidFill>
                <a:srgbClr val="0F466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333A4C2E-95CE-4393-B685-9F7E1727ABFF}"/>
              </a:ext>
            </a:extLst>
          </p:cNvPr>
          <p:cNvSpPr>
            <a:spLocks noGrp="1"/>
          </p:cNvSpPr>
          <p:nvPr/>
        </p:nvSpPr>
        <p:spPr>
          <a:xfrm>
            <a:off x="1275588" y="6202210"/>
            <a:ext cx="6195365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2400" dirty="0">
                <a:solidFill>
                  <a:srgbClr val="0F4662"/>
                </a:solidFill>
                <a:latin typeface="Microsoft YaHei"/>
                <a:ea typeface="Microsoft YaHei"/>
                <a:cs typeface="Microsoft YaHei"/>
              </a:rPr>
              <a:t>设为时间索引并升序排列，保留10分钟粒度</a:t>
            </a:r>
          </a:p>
        </p:txBody>
      </p:sp>
      <p:sp>
        <p:nvSpPr>
          <p:cNvPr id="22" name="Freeform 22">
            <a:extLst>
              <a:ext uri="{FF2B5EF4-FFF2-40B4-BE49-F238E27FC236}">
                <a16:creationId xmlns:a16="http://schemas.microsoft.com/office/drawing/2014/main" id="{88162F12-5559-45D8-A7B6-C86625B9A648}"/>
              </a:ext>
            </a:extLst>
          </p:cNvPr>
          <p:cNvSpPr>
            <a:spLocks noGrp="1"/>
          </p:cNvSpPr>
          <p:nvPr/>
        </p:nvSpPr>
        <p:spPr>
          <a:xfrm>
            <a:off x="1028700" y="7694295"/>
            <a:ext cx="10527792" cy="2028825"/>
          </a:xfrm>
          <a:custGeom>
            <a:avLst/>
            <a:gdLst/>
            <a:ahLst/>
            <a:cxnLst/>
            <a:rect l="l" t="t" r="r" b="b"/>
            <a:pathLst>
              <a:path w="10527792" h="2028825">
                <a:moveTo>
                  <a:pt x="0" y="0"/>
                </a:moveTo>
                <a:lnTo>
                  <a:pt x="10527792" y="0"/>
                </a:lnTo>
                <a:lnTo>
                  <a:pt x="10527792" y="2028825"/>
                </a:lnTo>
                <a:lnTo>
                  <a:pt x="0" y="2028825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0F22E1C6-271A-4164-8730-C4BEAC2A63F2}"/>
              </a:ext>
            </a:extLst>
          </p:cNvPr>
          <p:cNvSpPr>
            <a:spLocks noGrp="1"/>
          </p:cNvSpPr>
          <p:nvPr/>
        </p:nvSpPr>
        <p:spPr>
          <a:xfrm>
            <a:off x="1275588" y="7795933"/>
            <a:ext cx="583996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2400" dirty="0" err="1">
                <a:solidFill>
                  <a:srgbClr val="0F4662"/>
                </a:solidFill>
                <a:latin typeface="Microsoft YaHei"/>
                <a:ea typeface="Microsoft YaHei"/>
                <a:cs typeface="Microsoft YaHei"/>
              </a:rPr>
              <a:t>核对缺失值、重复时间戳及完整时间网格</a:t>
            </a:r>
            <a:endParaRPr sz="2400" dirty="0">
              <a:solidFill>
                <a:srgbClr val="0F466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5AFAC45F-F2CE-4F43-AC24-DF2582BEBFF2}"/>
              </a:ext>
            </a:extLst>
          </p:cNvPr>
          <p:cNvSpPr>
            <a:spLocks noGrp="1"/>
          </p:cNvSpPr>
          <p:nvPr/>
        </p:nvSpPr>
        <p:spPr>
          <a:xfrm>
            <a:off x="1275588" y="8832253"/>
            <a:ext cx="6760769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2400" dirty="0">
                <a:solidFill>
                  <a:srgbClr val="0F4662"/>
                </a:solidFill>
                <a:latin typeface="Microsoft YaHei"/>
                <a:ea typeface="Microsoft YaHei"/>
                <a:cs typeface="Microsoft YaHei"/>
              </a:rPr>
              <a:t>用 describe() </a:t>
            </a:r>
            <a:r>
              <a:rPr sz="2400" dirty="0" err="1">
                <a:solidFill>
                  <a:srgbClr val="0F4662"/>
                </a:solidFill>
                <a:latin typeface="Microsoft YaHei"/>
                <a:ea typeface="Microsoft YaHei"/>
                <a:cs typeface="Microsoft YaHei"/>
              </a:rPr>
              <a:t>检查数值范围，并审查风速分布</a:t>
            </a:r>
            <a:endParaRPr sz="2400" dirty="0">
              <a:solidFill>
                <a:srgbClr val="0F466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702F5495-126A-4C9B-A1F2-1048BD965252}"/>
              </a:ext>
            </a:extLst>
          </p:cNvPr>
          <p:cNvSpPr>
            <a:spLocks noGrp="1"/>
          </p:cNvSpPr>
          <p:nvPr/>
        </p:nvSpPr>
        <p:spPr>
          <a:xfrm>
            <a:off x="1028700" y="1914811"/>
            <a:ext cx="10527792" cy="490823"/>
          </a:xfrm>
          <a:prstGeom prst="rect">
            <a:avLst/>
          </a:prstGeom>
          <a:noFill/>
          <a:ln>
            <a:noFill/>
          </a:ln>
        </p:spPr>
        <p:txBody>
          <a:bodyPr wrap="none" lIns="0" tIns="25407" rIns="0" bIns="0" anchor="t">
            <a:no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800" b="1" dirty="0" err="1">
                <a:solidFill>
                  <a:srgbClr val="0F4662"/>
                </a:solidFill>
                <a:latin typeface="Microsoft YaHei"/>
                <a:ea typeface="Microsoft YaHei"/>
                <a:cs typeface="Microsoft YaHei"/>
              </a:rPr>
              <a:t>读入与字段规整</a:t>
            </a:r>
            <a:endParaRPr sz="2800" b="1" dirty="0">
              <a:solidFill>
                <a:srgbClr val="0F466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0971D27-449A-4A52-A031-3A98392C6C66}"/>
              </a:ext>
            </a:extLst>
          </p:cNvPr>
          <p:cNvSpPr>
            <a:spLocks noGrp="1"/>
          </p:cNvSpPr>
          <p:nvPr/>
        </p:nvSpPr>
        <p:spPr>
          <a:xfrm>
            <a:off x="1028700" y="4472559"/>
            <a:ext cx="10527792" cy="565118"/>
          </a:xfrm>
          <a:prstGeom prst="rect">
            <a:avLst/>
          </a:prstGeom>
          <a:noFill/>
          <a:ln>
            <a:noFill/>
          </a:ln>
        </p:spPr>
        <p:txBody>
          <a:bodyPr wrap="none" lIns="0" tIns="114339" rIns="0" bIns="0" anchor="t">
            <a:noAutofit/>
          </a:bodyPr>
          <a:lstStyle/>
          <a:p>
            <a:pPr algn="l">
              <a:buNone/>
            </a:pPr>
            <a:r>
              <a:rPr sz="2800" b="1" dirty="0" err="1">
                <a:solidFill>
                  <a:srgbClr val="0F4662"/>
                </a:solidFill>
                <a:latin typeface="Microsoft YaHei"/>
                <a:ea typeface="Microsoft YaHei"/>
                <a:cs typeface="Microsoft YaHei"/>
              </a:rPr>
              <a:t>时间解析与排序</a:t>
            </a:r>
            <a:endParaRPr sz="2800" b="1" dirty="0">
              <a:solidFill>
                <a:srgbClr val="0F466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2504D6DA-0EFC-46C2-8920-8DE275CF33FA}"/>
              </a:ext>
            </a:extLst>
          </p:cNvPr>
          <p:cNvSpPr>
            <a:spLocks noGrp="1"/>
          </p:cNvSpPr>
          <p:nvPr/>
        </p:nvSpPr>
        <p:spPr>
          <a:xfrm>
            <a:off x="1028700" y="7102602"/>
            <a:ext cx="10527792" cy="565118"/>
          </a:xfrm>
          <a:prstGeom prst="rect">
            <a:avLst/>
          </a:prstGeom>
          <a:noFill/>
          <a:ln>
            <a:noFill/>
          </a:ln>
        </p:spPr>
        <p:txBody>
          <a:bodyPr wrap="none" lIns="0" tIns="114338" rIns="0" bIns="0" anchor="t">
            <a:noAutofit/>
          </a:bodyPr>
          <a:lstStyle/>
          <a:p>
            <a:pPr algn="l">
              <a:buNone/>
            </a:pPr>
            <a:r>
              <a:rPr sz="2800" b="1">
                <a:solidFill>
                  <a:srgbClr val="0F4662"/>
                </a:solidFill>
                <a:latin typeface="Microsoft YaHei"/>
                <a:ea typeface="Microsoft YaHei"/>
                <a:cs typeface="Microsoft YaHei"/>
              </a:rPr>
              <a:t>数据质量检查</a:t>
            </a:r>
          </a:p>
        </p:txBody>
      </p:sp>
    </p:spTree>
    <p:extLst>
      <p:ext uri="{BB962C8B-B14F-4D97-AF65-F5344CB8AC3E}">
        <p14:creationId xmlns:p14="http://schemas.microsoft.com/office/powerpoint/2010/main" val="1883114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A4807E52-0E24-4AE2-BF25-841C96DBF1BC}"/>
              </a:ext>
            </a:extLst>
          </p:cNvPr>
          <p:cNvSpPr>
            <a:spLocks noGrp="1"/>
          </p:cNvSpPr>
          <p:nvPr/>
        </p:nvSpPr>
        <p:spPr>
          <a:xfrm>
            <a:off x="923362" y="2404716"/>
            <a:ext cx="5385764" cy="6426664"/>
          </a:xfrm>
          <a:custGeom>
            <a:avLst/>
            <a:gdLst/>
            <a:ahLst/>
            <a:cxnLst/>
            <a:rect l="l" t="t" r="r" b="b"/>
            <a:pathLst>
              <a:path w="1418473" h="1692619">
                <a:moveTo>
                  <a:pt x="73311" y="0"/>
                </a:moveTo>
                <a:lnTo>
                  <a:pt x="1345161" y="0"/>
                </a:lnTo>
                <a:cubicBezTo>
                  <a:pt x="1364605" y="0"/>
                  <a:pt x="1383252" y="7724"/>
                  <a:pt x="1397000" y="21472"/>
                </a:cubicBezTo>
                <a:cubicBezTo>
                  <a:pt x="1410749" y="35221"/>
                  <a:pt x="1418473" y="53868"/>
                  <a:pt x="1418473" y="73311"/>
                </a:cubicBezTo>
                <a:lnTo>
                  <a:pt x="1418473" y="1619308"/>
                </a:lnTo>
                <a:cubicBezTo>
                  <a:pt x="1418473" y="1638751"/>
                  <a:pt x="1410749" y="1657398"/>
                  <a:pt x="1397000" y="1671147"/>
                </a:cubicBezTo>
                <a:cubicBezTo>
                  <a:pt x="1383252" y="1684896"/>
                  <a:pt x="1364605" y="1692619"/>
                  <a:pt x="1345161" y="1692619"/>
                </a:cubicBezTo>
                <a:lnTo>
                  <a:pt x="73311" y="1692619"/>
                </a:lnTo>
                <a:cubicBezTo>
                  <a:pt x="32823" y="1692619"/>
                  <a:pt x="0" y="1659797"/>
                  <a:pt x="0" y="1619308"/>
                </a:cubicBezTo>
                <a:lnTo>
                  <a:pt x="0" y="73311"/>
                </a:lnTo>
                <a:cubicBezTo>
                  <a:pt x="0" y="53868"/>
                  <a:pt x="7724" y="35221"/>
                  <a:pt x="21472" y="21472"/>
                </a:cubicBezTo>
                <a:cubicBezTo>
                  <a:pt x="35221" y="7724"/>
                  <a:pt x="53868" y="0"/>
                  <a:pt x="73311" y="0"/>
                </a:cubicBezTo>
                <a:close/>
              </a:path>
            </a:pathLst>
          </a:custGeom>
          <a:solidFill>
            <a:srgbClr val="DBE5EA"/>
          </a:solidFill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3B94637-2BFF-448E-8094-2E21F45BEBA2}"/>
              </a:ext>
            </a:extLst>
          </p:cNvPr>
          <p:cNvSpPr>
            <a:spLocks noGrp="1"/>
          </p:cNvSpPr>
          <p:nvPr/>
        </p:nvSpPr>
        <p:spPr>
          <a:xfrm>
            <a:off x="886761" y="1986547"/>
            <a:ext cx="5385764" cy="6896812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4080"/>
              </a:lnSpc>
              <a:buNone/>
            </a:pPr>
            <a:endParaRPr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41B88515-E088-4F5B-9194-08BA1ACFDA65}"/>
              </a:ext>
            </a:extLst>
          </p:cNvPr>
          <p:cNvSpPr>
            <a:spLocks noGrp="1"/>
          </p:cNvSpPr>
          <p:nvPr/>
        </p:nvSpPr>
        <p:spPr>
          <a:xfrm>
            <a:off x="2405199" y="2877488"/>
            <a:ext cx="2348889" cy="2348889"/>
          </a:xfrm>
          <a:custGeom>
            <a:avLst/>
            <a:gdLst/>
            <a:ahLst/>
            <a:cxnLst/>
            <a:rect l="l" t="t" r="r" b="b"/>
            <a:pathLst>
              <a:path w="2348889" h="2348889">
                <a:moveTo>
                  <a:pt x="0" y="0"/>
                </a:moveTo>
                <a:lnTo>
                  <a:pt x="2348889" y="0"/>
                </a:lnTo>
                <a:lnTo>
                  <a:pt x="2348889" y="2348889"/>
                </a:lnTo>
                <a:lnTo>
                  <a:pt x="0" y="23488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809E2842-A554-4AB5-AB87-37F88970AE52}"/>
              </a:ext>
            </a:extLst>
          </p:cNvPr>
          <p:cNvSpPr>
            <a:spLocks noGrp="1"/>
          </p:cNvSpPr>
          <p:nvPr/>
        </p:nvSpPr>
        <p:spPr>
          <a:xfrm>
            <a:off x="6451118" y="2456695"/>
            <a:ext cx="5385764" cy="6426664"/>
          </a:xfrm>
          <a:custGeom>
            <a:avLst/>
            <a:gdLst/>
            <a:ahLst/>
            <a:cxnLst/>
            <a:rect l="l" t="t" r="r" b="b"/>
            <a:pathLst>
              <a:path w="1418473" h="1692619">
                <a:moveTo>
                  <a:pt x="73311" y="0"/>
                </a:moveTo>
                <a:lnTo>
                  <a:pt x="1345161" y="0"/>
                </a:lnTo>
                <a:cubicBezTo>
                  <a:pt x="1364605" y="0"/>
                  <a:pt x="1383252" y="7724"/>
                  <a:pt x="1397000" y="21472"/>
                </a:cubicBezTo>
                <a:cubicBezTo>
                  <a:pt x="1410749" y="35221"/>
                  <a:pt x="1418473" y="53868"/>
                  <a:pt x="1418473" y="73311"/>
                </a:cubicBezTo>
                <a:lnTo>
                  <a:pt x="1418473" y="1619308"/>
                </a:lnTo>
                <a:cubicBezTo>
                  <a:pt x="1418473" y="1638751"/>
                  <a:pt x="1410749" y="1657398"/>
                  <a:pt x="1397000" y="1671147"/>
                </a:cubicBezTo>
                <a:cubicBezTo>
                  <a:pt x="1383252" y="1684896"/>
                  <a:pt x="1364605" y="1692619"/>
                  <a:pt x="1345161" y="1692619"/>
                </a:cubicBezTo>
                <a:lnTo>
                  <a:pt x="73311" y="1692619"/>
                </a:lnTo>
                <a:cubicBezTo>
                  <a:pt x="32823" y="1692619"/>
                  <a:pt x="0" y="1659797"/>
                  <a:pt x="0" y="1619308"/>
                </a:cubicBezTo>
                <a:lnTo>
                  <a:pt x="0" y="73311"/>
                </a:lnTo>
                <a:cubicBezTo>
                  <a:pt x="0" y="53868"/>
                  <a:pt x="7724" y="35221"/>
                  <a:pt x="21472" y="21472"/>
                </a:cubicBezTo>
                <a:cubicBezTo>
                  <a:pt x="35221" y="7724"/>
                  <a:pt x="53868" y="0"/>
                  <a:pt x="73311" y="0"/>
                </a:cubicBezTo>
                <a:close/>
              </a:path>
            </a:pathLst>
          </a:custGeom>
          <a:solidFill>
            <a:srgbClr val="A9BECB"/>
          </a:solid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D2CFAE8-ED83-4DEB-A936-9D7AD128BAFE}"/>
              </a:ext>
            </a:extLst>
          </p:cNvPr>
          <p:cNvSpPr>
            <a:spLocks noGrp="1"/>
          </p:cNvSpPr>
          <p:nvPr/>
        </p:nvSpPr>
        <p:spPr>
          <a:xfrm>
            <a:off x="6451118" y="1986547"/>
            <a:ext cx="5385764" cy="6896812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4080"/>
              </a:lnSpc>
              <a:buNone/>
            </a:pPr>
            <a:endParaRPr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4B3E4244-D5BE-4E74-94AF-9E8386A1F09D}"/>
              </a:ext>
            </a:extLst>
          </p:cNvPr>
          <p:cNvSpPr>
            <a:spLocks noGrp="1"/>
          </p:cNvSpPr>
          <p:nvPr/>
        </p:nvSpPr>
        <p:spPr>
          <a:xfrm>
            <a:off x="7984503" y="2877488"/>
            <a:ext cx="2318994" cy="2348889"/>
          </a:xfrm>
          <a:custGeom>
            <a:avLst/>
            <a:gdLst/>
            <a:ahLst/>
            <a:cxnLst/>
            <a:rect l="l" t="t" r="r" b="b"/>
            <a:pathLst>
              <a:path w="2318994" h="2348889">
                <a:moveTo>
                  <a:pt x="0" y="0"/>
                </a:moveTo>
                <a:lnTo>
                  <a:pt x="2318994" y="0"/>
                </a:lnTo>
                <a:lnTo>
                  <a:pt x="2318994" y="2348889"/>
                </a:lnTo>
                <a:lnTo>
                  <a:pt x="0" y="23488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E9EA759-E7B2-47E5-B3DA-B02ECADFD55B}"/>
              </a:ext>
            </a:extLst>
          </p:cNvPr>
          <p:cNvSpPr>
            <a:spLocks noGrp="1"/>
          </p:cNvSpPr>
          <p:nvPr/>
        </p:nvSpPr>
        <p:spPr>
          <a:xfrm>
            <a:off x="12085814" y="2415988"/>
            <a:ext cx="5385764" cy="6426664"/>
          </a:xfrm>
          <a:custGeom>
            <a:avLst/>
            <a:gdLst/>
            <a:ahLst/>
            <a:cxnLst/>
            <a:rect l="l" t="t" r="r" b="b"/>
            <a:pathLst>
              <a:path w="1418473" h="1692619">
                <a:moveTo>
                  <a:pt x="73311" y="0"/>
                </a:moveTo>
                <a:lnTo>
                  <a:pt x="1345161" y="0"/>
                </a:lnTo>
                <a:cubicBezTo>
                  <a:pt x="1364605" y="0"/>
                  <a:pt x="1383252" y="7724"/>
                  <a:pt x="1397000" y="21472"/>
                </a:cubicBezTo>
                <a:cubicBezTo>
                  <a:pt x="1410749" y="35221"/>
                  <a:pt x="1418473" y="53868"/>
                  <a:pt x="1418473" y="73311"/>
                </a:cubicBezTo>
                <a:lnTo>
                  <a:pt x="1418473" y="1619308"/>
                </a:lnTo>
                <a:cubicBezTo>
                  <a:pt x="1418473" y="1638751"/>
                  <a:pt x="1410749" y="1657398"/>
                  <a:pt x="1397000" y="1671147"/>
                </a:cubicBezTo>
                <a:cubicBezTo>
                  <a:pt x="1383252" y="1684896"/>
                  <a:pt x="1364605" y="1692619"/>
                  <a:pt x="1345161" y="1692619"/>
                </a:cubicBezTo>
                <a:lnTo>
                  <a:pt x="73311" y="1692619"/>
                </a:lnTo>
                <a:cubicBezTo>
                  <a:pt x="32823" y="1692619"/>
                  <a:pt x="0" y="1659797"/>
                  <a:pt x="0" y="1619308"/>
                </a:cubicBezTo>
                <a:lnTo>
                  <a:pt x="0" y="73311"/>
                </a:lnTo>
                <a:cubicBezTo>
                  <a:pt x="0" y="53868"/>
                  <a:pt x="7724" y="35221"/>
                  <a:pt x="21472" y="21472"/>
                </a:cubicBezTo>
                <a:cubicBezTo>
                  <a:pt x="35221" y="7724"/>
                  <a:pt x="53868" y="0"/>
                  <a:pt x="73311" y="0"/>
                </a:cubicBezTo>
                <a:close/>
              </a:path>
            </a:pathLst>
          </a:custGeom>
          <a:solidFill>
            <a:srgbClr val="DBE5EA"/>
          </a:solidFill>
        </p:spPr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906CD679-36E2-40F3-A3AB-A54ED5F90917}"/>
              </a:ext>
            </a:extLst>
          </p:cNvPr>
          <p:cNvSpPr>
            <a:spLocks noGrp="1"/>
          </p:cNvSpPr>
          <p:nvPr/>
        </p:nvSpPr>
        <p:spPr>
          <a:xfrm>
            <a:off x="12015475" y="1986547"/>
            <a:ext cx="5385764" cy="6896812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4080"/>
              </a:lnSpc>
              <a:buNone/>
            </a:pPr>
            <a:endParaRPr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77B8EC94-2D5B-4718-A6B4-7968653B88E6}"/>
              </a:ext>
            </a:extLst>
          </p:cNvPr>
          <p:cNvSpPr>
            <a:spLocks noGrp="1"/>
          </p:cNvSpPr>
          <p:nvPr/>
        </p:nvSpPr>
        <p:spPr>
          <a:xfrm>
            <a:off x="13595029" y="3088463"/>
            <a:ext cx="2226655" cy="2226655"/>
          </a:xfrm>
          <a:custGeom>
            <a:avLst/>
            <a:gdLst/>
            <a:ahLst/>
            <a:cxnLst/>
            <a:rect l="l" t="t" r="r" b="b"/>
            <a:pathLst>
              <a:path w="2226655" h="2226655">
                <a:moveTo>
                  <a:pt x="0" y="0"/>
                </a:moveTo>
                <a:lnTo>
                  <a:pt x="2226655" y="0"/>
                </a:lnTo>
                <a:lnTo>
                  <a:pt x="2226655" y="2226655"/>
                </a:lnTo>
                <a:lnTo>
                  <a:pt x="0" y="22266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6864B340-3000-4B95-8699-10AFEA815B3F}"/>
              </a:ext>
            </a:extLst>
          </p:cNvPr>
          <p:cNvSpPr>
            <a:spLocks noGrp="1"/>
          </p:cNvSpPr>
          <p:nvPr/>
        </p:nvSpPr>
        <p:spPr>
          <a:xfrm>
            <a:off x="1028700" y="599694"/>
            <a:ext cx="8115300" cy="1085183"/>
          </a:xfrm>
          <a:prstGeom prst="rect">
            <a:avLst/>
          </a:prstGeom>
          <a:noFill/>
          <a:ln>
            <a:noFill/>
          </a:ln>
        </p:spPr>
        <p:txBody>
          <a:bodyPr wrap="none" lIns="0" tIns="25415" rIns="0" bIns="0" anchor="t">
            <a:noAutofit/>
          </a:bodyPr>
          <a:lstStyle/>
          <a:p>
            <a:pPr algn="l">
              <a:buNone/>
            </a:pPr>
            <a:r>
              <a:rPr sz="6400" b="1">
                <a:solidFill>
                  <a:srgbClr val="0F4662"/>
                </a:solidFill>
                <a:latin typeface="SimSun"/>
                <a:ea typeface="SimSun"/>
                <a:cs typeface="SimSun"/>
              </a:rPr>
              <a:t>数据完整性检查</a:t>
            </a:r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7E5C2BA1-4E2A-4E57-B3DF-43AFB4A0343D}"/>
              </a:ext>
            </a:extLst>
          </p:cNvPr>
          <p:cNvSpPr>
            <a:spLocks noGrp="1"/>
          </p:cNvSpPr>
          <p:nvPr/>
        </p:nvSpPr>
        <p:spPr>
          <a:xfrm>
            <a:off x="1028700" y="5919406"/>
            <a:ext cx="5101876" cy="2543175"/>
          </a:xfrm>
          <a:custGeom>
            <a:avLst/>
            <a:gdLst/>
            <a:ahLst/>
            <a:cxnLst/>
            <a:rect l="l" t="t" r="r" b="b"/>
            <a:pathLst>
              <a:path w="5101876" h="2543175">
                <a:moveTo>
                  <a:pt x="0" y="0"/>
                </a:moveTo>
                <a:lnTo>
                  <a:pt x="5101876" y="0"/>
                </a:lnTo>
                <a:lnTo>
                  <a:pt x="5101876" y="2543175"/>
                </a:lnTo>
                <a:lnTo>
                  <a:pt x="0" y="2543175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4DD8567E-6EDD-439D-B99B-8BC2A6937DDB}"/>
              </a:ext>
            </a:extLst>
          </p:cNvPr>
          <p:cNvSpPr>
            <a:spLocks noGrp="1"/>
          </p:cNvSpPr>
          <p:nvPr/>
        </p:nvSpPr>
        <p:spPr>
          <a:xfrm>
            <a:off x="1220880" y="6132629"/>
            <a:ext cx="2630424" cy="9265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  <a:buNone/>
            </a:pPr>
            <a:r>
              <a:rPr sz="2400" dirty="0">
                <a:solidFill>
                  <a:srgbClr val="0F4662"/>
                </a:solidFill>
                <a:latin typeface="Microsoft YaHei"/>
                <a:ea typeface="Microsoft YaHei"/>
                <a:cs typeface="Microsoft YaHei"/>
              </a:rPr>
              <a:t>缺失值合计：0</a:t>
            </a:r>
            <a:br>
              <a:rPr sz="2400" dirty="0">
                <a:solidFill>
                  <a:srgbClr val="0F4662"/>
                </a:solidFill>
                <a:latin typeface="Microsoft YaHei"/>
                <a:ea typeface="Microsoft YaHei"/>
                <a:cs typeface="Microsoft YaHei"/>
              </a:rPr>
            </a:br>
            <a:r>
              <a:rPr sz="2400" dirty="0">
                <a:solidFill>
                  <a:srgbClr val="0F4662"/>
                </a:solidFill>
                <a:latin typeface="Microsoft YaHei"/>
                <a:ea typeface="Microsoft YaHei"/>
                <a:cs typeface="Microsoft YaHei"/>
              </a:rPr>
              <a:t>8个数值字段均完整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4BDB5B67-5026-4F06-9561-C8F0410BE5B4}"/>
              </a:ext>
            </a:extLst>
          </p:cNvPr>
          <p:cNvSpPr>
            <a:spLocks noGrp="1"/>
          </p:cNvSpPr>
          <p:nvPr/>
        </p:nvSpPr>
        <p:spPr>
          <a:xfrm>
            <a:off x="1220880" y="7418988"/>
            <a:ext cx="2157984" cy="9265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  <a:buNone/>
            </a:pPr>
            <a:r>
              <a:rPr sz="2400" dirty="0" err="1">
                <a:solidFill>
                  <a:srgbClr val="0F4662"/>
                </a:solidFill>
                <a:latin typeface="Microsoft YaHei"/>
                <a:ea typeface="Microsoft YaHei"/>
                <a:cs typeface="Microsoft YaHei"/>
              </a:rPr>
              <a:t>无需插补</a:t>
            </a:r>
            <a:br>
              <a:rPr sz="2400" dirty="0">
                <a:solidFill>
                  <a:srgbClr val="0F4662"/>
                </a:solidFill>
                <a:latin typeface="Microsoft YaHei"/>
                <a:ea typeface="Microsoft YaHei"/>
                <a:cs typeface="Microsoft YaHei"/>
              </a:rPr>
            </a:br>
            <a:r>
              <a:rPr sz="2400" dirty="0" err="1">
                <a:solidFill>
                  <a:srgbClr val="0F4662"/>
                </a:solidFill>
                <a:latin typeface="Microsoft YaHei"/>
                <a:ea typeface="Microsoft YaHei"/>
                <a:cs typeface="Microsoft YaHei"/>
              </a:rPr>
              <a:t>保留原始观测值</a:t>
            </a:r>
            <a:endParaRPr sz="2400" dirty="0">
              <a:solidFill>
                <a:srgbClr val="0F466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8B9424CB-2FD6-4C68-92BF-F80420FC7270}"/>
              </a:ext>
            </a:extLst>
          </p:cNvPr>
          <p:cNvSpPr>
            <a:spLocks noGrp="1"/>
          </p:cNvSpPr>
          <p:nvPr/>
        </p:nvSpPr>
        <p:spPr>
          <a:xfrm>
            <a:off x="1028700" y="5580507"/>
            <a:ext cx="5101876" cy="490823"/>
          </a:xfrm>
          <a:prstGeom prst="rect">
            <a:avLst/>
          </a:prstGeom>
          <a:noFill/>
          <a:ln>
            <a:noFill/>
          </a:ln>
        </p:spPr>
        <p:txBody>
          <a:bodyPr wrap="none" lIns="0" tIns="25387" rIns="0" bIns="0" anchor="t">
            <a:noAutofit/>
          </a:bodyPr>
          <a:lstStyle/>
          <a:p>
            <a:pPr algn="l">
              <a:buNone/>
            </a:pPr>
            <a:r>
              <a:rPr sz="2800" b="1" dirty="0" err="1">
                <a:solidFill>
                  <a:srgbClr val="0F4662"/>
                </a:solidFill>
                <a:latin typeface="Microsoft YaHei"/>
                <a:ea typeface="Microsoft YaHei"/>
                <a:cs typeface="Microsoft YaHei"/>
              </a:rPr>
              <a:t>缺失值</a:t>
            </a:r>
            <a:endParaRPr sz="2800" b="1" dirty="0">
              <a:solidFill>
                <a:srgbClr val="0F466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Freeform 28">
            <a:extLst>
              <a:ext uri="{FF2B5EF4-FFF2-40B4-BE49-F238E27FC236}">
                <a16:creationId xmlns:a16="http://schemas.microsoft.com/office/drawing/2014/main" id="{87DE4AB4-C596-4D73-B0C0-E5DD18600CA9}"/>
              </a:ext>
            </a:extLst>
          </p:cNvPr>
          <p:cNvSpPr>
            <a:spLocks noGrp="1"/>
          </p:cNvSpPr>
          <p:nvPr/>
        </p:nvSpPr>
        <p:spPr>
          <a:xfrm>
            <a:off x="6593014" y="5919406"/>
            <a:ext cx="5101971" cy="2543175"/>
          </a:xfrm>
          <a:custGeom>
            <a:avLst/>
            <a:gdLst/>
            <a:ahLst/>
            <a:cxnLst/>
            <a:rect l="l" t="t" r="r" b="b"/>
            <a:pathLst>
              <a:path w="5101971" h="2543175">
                <a:moveTo>
                  <a:pt x="0" y="0"/>
                </a:moveTo>
                <a:lnTo>
                  <a:pt x="5101971" y="0"/>
                </a:lnTo>
                <a:lnTo>
                  <a:pt x="5101971" y="2543175"/>
                </a:lnTo>
                <a:lnTo>
                  <a:pt x="0" y="2543175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5F240C1E-958E-473B-B6B9-CCBDD480D063}"/>
              </a:ext>
            </a:extLst>
          </p:cNvPr>
          <p:cNvSpPr>
            <a:spLocks noGrp="1"/>
          </p:cNvSpPr>
          <p:nvPr/>
        </p:nvSpPr>
        <p:spPr>
          <a:xfrm>
            <a:off x="6593014" y="6107504"/>
            <a:ext cx="2462784" cy="9265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  <a:buNone/>
            </a:pPr>
            <a:r>
              <a:rPr sz="2400" dirty="0">
                <a:solidFill>
                  <a:srgbClr val="0F4662"/>
                </a:solidFill>
                <a:latin typeface="Microsoft YaHei"/>
                <a:ea typeface="Microsoft YaHei"/>
                <a:cs typeface="Microsoft YaHei"/>
              </a:rPr>
              <a:t>重复时间戳：0</a:t>
            </a:r>
            <a:br>
              <a:rPr sz="2400" dirty="0">
                <a:solidFill>
                  <a:srgbClr val="0F4662"/>
                </a:solidFill>
                <a:latin typeface="Microsoft YaHei"/>
                <a:ea typeface="Microsoft YaHei"/>
                <a:cs typeface="Microsoft YaHei"/>
              </a:rPr>
            </a:br>
            <a:r>
              <a:rPr sz="2400" dirty="0" err="1">
                <a:solidFill>
                  <a:srgbClr val="0F4662"/>
                </a:solidFill>
                <a:latin typeface="Microsoft YaHei"/>
                <a:ea typeface="Microsoft YaHei"/>
                <a:cs typeface="Microsoft YaHei"/>
              </a:rPr>
              <a:t>每个采样时刻唯一</a:t>
            </a:r>
            <a:endParaRPr sz="2400" dirty="0">
              <a:solidFill>
                <a:srgbClr val="0F466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021BB4FF-8275-41F0-9113-55CB5E88FD90}"/>
              </a:ext>
            </a:extLst>
          </p:cNvPr>
          <p:cNvSpPr>
            <a:spLocks noGrp="1"/>
          </p:cNvSpPr>
          <p:nvPr/>
        </p:nvSpPr>
        <p:spPr>
          <a:xfrm>
            <a:off x="6687502" y="7415753"/>
            <a:ext cx="2767584" cy="9265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  <a:buNone/>
            </a:pPr>
            <a:r>
              <a:rPr sz="2400" dirty="0" err="1">
                <a:solidFill>
                  <a:srgbClr val="0F4662"/>
                </a:solidFill>
                <a:latin typeface="Microsoft YaHei"/>
                <a:ea typeface="Microsoft YaHei"/>
                <a:cs typeface="Microsoft YaHei"/>
              </a:rPr>
              <a:t>无需时间去重</a:t>
            </a:r>
            <a:br>
              <a:rPr sz="2400" dirty="0">
                <a:solidFill>
                  <a:srgbClr val="0F4662"/>
                </a:solidFill>
                <a:latin typeface="Microsoft YaHei"/>
                <a:ea typeface="Microsoft YaHei"/>
                <a:cs typeface="Microsoft YaHei"/>
              </a:rPr>
            </a:br>
            <a:r>
              <a:rPr sz="2400" dirty="0" err="1">
                <a:solidFill>
                  <a:srgbClr val="0F4662"/>
                </a:solidFill>
                <a:latin typeface="Microsoft YaHei"/>
                <a:ea typeface="Microsoft YaHei"/>
                <a:cs typeface="Microsoft YaHei"/>
              </a:rPr>
              <a:t>按时间顺序组织数据</a:t>
            </a:r>
            <a:endParaRPr sz="2400" dirty="0">
              <a:solidFill>
                <a:srgbClr val="0F466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5D37DC0F-E07A-4AA1-AE1F-8B5C69F3AAF0}"/>
              </a:ext>
            </a:extLst>
          </p:cNvPr>
          <p:cNvSpPr>
            <a:spLocks noGrp="1"/>
          </p:cNvSpPr>
          <p:nvPr/>
        </p:nvSpPr>
        <p:spPr>
          <a:xfrm>
            <a:off x="6593014" y="5580507"/>
            <a:ext cx="5101876" cy="490823"/>
          </a:xfrm>
          <a:prstGeom prst="rect">
            <a:avLst/>
          </a:prstGeom>
          <a:noFill/>
          <a:ln>
            <a:noFill/>
          </a:ln>
        </p:spPr>
        <p:txBody>
          <a:bodyPr wrap="none" lIns="0" tIns="25387" rIns="0" bIns="0" anchor="t">
            <a:noAutofit/>
          </a:bodyPr>
          <a:lstStyle/>
          <a:p>
            <a:pPr algn="l">
              <a:buNone/>
            </a:pPr>
            <a:r>
              <a:rPr sz="2800" b="1">
                <a:solidFill>
                  <a:srgbClr val="0F4662"/>
                </a:solidFill>
                <a:latin typeface="Microsoft YaHei"/>
                <a:ea typeface="Microsoft YaHei"/>
                <a:cs typeface="Microsoft YaHei"/>
              </a:rPr>
              <a:t>重复时间戳</a:t>
            </a:r>
          </a:p>
        </p:txBody>
      </p:sp>
      <p:sp>
        <p:nvSpPr>
          <p:cNvPr id="33" name="Freeform 33">
            <a:extLst>
              <a:ext uri="{FF2B5EF4-FFF2-40B4-BE49-F238E27FC236}">
                <a16:creationId xmlns:a16="http://schemas.microsoft.com/office/drawing/2014/main" id="{6DD24699-4069-4482-89AF-A5D7A3DAA1CA}"/>
              </a:ext>
            </a:extLst>
          </p:cNvPr>
          <p:cNvSpPr>
            <a:spLocks noGrp="1"/>
          </p:cNvSpPr>
          <p:nvPr/>
        </p:nvSpPr>
        <p:spPr>
          <a:xfrm>
            <a:off x="12157424" y="6222778"/>
            <a:ext cx="4496372" cy="2028825"/>
          </a:xfrm>
          <a:custGeom>
            <a:avLst/>
            <a:gdLst/>
            <a:ahLst/>
            <a:cxnLst/>
            <a:rect l="l" t="t" r="r" b="b"/>
            <a:pathLst>
              <a:path w="4496372" h="2028825">
                <a:moveTo>
                  <a:pt x="0" y="0"/>
                </a:moveTo>
                <a:lnTo>
                  <a:pt x="4496372" y="0"/>
                </a:lnTo>
                <a:lnTo>
                  <a:pt x="4496372" y="2028825"/>
                </a:lnTo>
                <a:lnTo>
                  <a:pt x="0" y="2028825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0470675F-2F10-4C8E-B9C3-AF09BC68025B}"/>
              </a:ext>
            </a:extLst>
          </p:cNvPr>
          <p:cNvSpPr>
            <a:spLocks noGrp="1"/>
          </p:cNvSpPr>
          <p:nvPr/>
        </p:nvSpPr>
        <p:spPr>
          <a:xfrm>
            <a:off x="12404312" y="6273567"/>
            <a:ext cx="2935224" cy="9265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  <a:buNone/>
            </a:pPr>
            <a:r>
              <a:rPr sz="2400" dirty="0">
                <a:solidFill>
                  <a:srgbClr val="0F4662"/>
                </a:solidFill>
                <a:latin typeface="Microsoft YaHei"/>
                <a:ea typeface="Microsoft YaHei"/>
                <a:cs typeface="Microsoft YaHei"/>
              </a:rPr>
              <a:t>应有与实有：52,416</a:t>
            </a:r>
            <a:br>
              <a:rPr sz="2400" dirty="0">
                <a:solidFill>
                  <a:srgbClr val="0F4662"/>
                </a:solidFill>
                <a:latin typeface="Microsoft YaHei"/>
                <a:ea typeface="Microsoft YaHei"/>
                <a:cs typeface="Microsoft YaHei"/>
              </a:rPr>
            </a:br>
            <a:r>
              <a:rPr sz="2400" dirty="0">
                <a:solidFill>
                  <a:srgbClr val="0F4662"/>
                </a:solidFill>
                <a:latin typeface="Microsoft YaHei"/>
                <a:ea typeface="Microsoft YaHei"/>
                <a:cs typeface="Microsoft YaHei"/>
              </a:rPr>
              <a:t>范围内缺失时间点：0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A8A033E4-6288-42F8-8198-E50A795A4BAB}"/>
              </a:ext>
            </a:extLst>
          </p:cNvPr>
          <p:cNvSpPr>
            <a:spLocks noGrp="1"/>
          </p:cNvSpPr>
          <p:nvPr/>
        </p:nvSpPr>
        <p:spPr>
          <a:xfrm>
            <a:off x="12404312" y="7309887"/>
            <a:ext cx="2889504" cy="9265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  <a:buNone/>
            </a:pPr>
            <a:r>
              <a:rPr sz="2400">
                <a:solidFill>
                  <a:srgbClr val="0F4662"/>
                </a:solidFill>
                <a:latin typeface="Microsoft YaHei"/>
                <a:ea typeface="Microsoft YaHei"/>
                <a:cs typeface="Microsoft YaHei"/>
              </a:rPr>
              <a:t>覆盖364天</a:t>
            </a:r>
            <a:br>
              <a:rPr sz="2400">
                <a:solidFill>
                  <a:srgbClr val="0F4662"/>
                </a:solidFill>
                <a:latin typeface="Microsoft YaHei"/>
                <a:ea typeface="Microsoft YaHei"/>
                <a:cs typeface="Microsoft YaHei"/>
              </a:rPr>
            </a:br>
            <a:r>
              <a:rPr sz="2400">
                <a:solidFill>
                  <a:srgbClr val="0F4662"/>
                </a:solidFill>
                <a:latin typeface="Microsoft YaHei"/>
                <a:ea typeface="Microsoft YaHei"/>
                <a:cs typeface="Microsoft YaHei"/>
              </a:rPr>
              <a:t>不含2017年12月31日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9D7FB26E-A27D-43D2-AFF1-9F2419ACB4C8}"/>
              </a:ext>
            </a:extLst>
          </p:cNvPr>
          <p:cNvSpPr>
            <a:spLocks noGrp="1"/>
          </p:cNvSpPr>
          <p:nvPr/>
        </p:nvSpPr>
        <p:spPr>
          <a:xfrm>
            <a:off x="12157424" y="5614928"/>
            <a:ext cx="5101876" cy="490823"/>
          </a:xfrm>
          <a:prstGeom prst="rect">
            <a:avLst/>
          </a:prstGeom>
          <a:noFill/>
          <a:ln>
            <a:noFill/>
          </a:ln>
        </p:spPr>
        <p:txBody>
          <a:bodyPr wrap="none" lIns="0" tIns="25447" rIns="0" bIns="0" anchor="t">
            <a:noAutofit/>
          </a:bodyPr>
          <a:lstStyle/>
          <a:p>
            <a:pPr algn="l">
              <a:buNone/>
            </a:pPr>
            <a:r>
              <a:rPr sz="2800" b="1" dirty="0">
                <a:solidFill>
                  <a:srgbClr val="0F4662"/>
                </a:solidFill>
                <a:latin typeface="Microsoft YaHei"/>
                <a:ea typeface="Microsoft YaHei"/>
                <a:cs typeface="Microsoft YaHei"/>
              </a:rPr>
              <a:t>10分钟时间网格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C514BD6A-0BE3-4EDD-9B67-C7EC1D6CEAB0}"/>
              </a:ext>
            </a:extLst>
          </p:cNvPr>
          <p:cNvSpPr>
            <a:spLocks noGrp="1"/>
          </p:cNvSpPr>
          <p:nvPr/>
        </p:nvSpPr>
        <p:spPr>
          <a:xfrm>
            <a:off x="10767060" y="990600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92929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EAB6291-B4F8-4EFE-B1F3-EE8FE63BA747}"/>
              </a:ext>
            </a:extLst>
          </p:cNvPr>
          <p:cNvSpPr>
            <a:spLocks noGrp="1"/>
          </p:cNvSpPr>
          <p:nvPr/>
        </p:nvSpPr>
        <p:spPr>
          <a:xfrm>
            <a:off x="7038622" y="4099272"/>
            <a:ext cx="4210757" cy="3273864"/>
          </a:xfrm>
          <a:custGeom>
            <a:avLst/>
            <a:gdLst/>
            <a:ahLst/>
            <a:cxnLst/>
            <a:rect l="l" t="t" r="r" b="b"/>
            <a:pathLst>
              <a:path w="4210757" h="3273864">
                <a:moveTo>
                  <a:pt x="0" y="0"/>
                </a:moveTo>
                <a:lnTo>
                  <a:pt x="4210756" y="0"/>
                </a:lnTo>
                <a:lnTo>
                  <a:pt x="4210756" y="3273864"/>
                </a:lnTo>
                <a:lnTo>
                  <a:pt x="0" y="32738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3CF667B7-1E0C-457D-BC04-12F43FD625B8}"/>
              </a:ext>
            </a:extLst>
          </p:cNvPr>
          <p:cNvSpPr>
            <a:spLocks noGrp="1"/>
          </p:cNvSpPr>
          <p:nvPr/>
        </p:nvSpPr>
        <p:spPr>
          <a:xfrm>
            <a:off x="2027699" y="5114925"/>
            <a:ext cx="4344915" cy="0"/>
          </a:xfrm>
          <a:prstGeom prst="line">
            <a:avLst/>
          </a:prstGeom>
          <a:ln w="57150" cap="flat">
            <a:solidFill>
              <a:srgbClr val="7994A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0B9CD79A-E55A-41E3-B545-8AAAFF9961FB}"/>
              </a:ext>
            </a:extLst>
          </p:cNvPr>
          <p:cNvSpPr>
            <a:spLocks noGrp="1"/>
          </p:cNvSpPr>
          <p:nvPr/>
        </p:nvSpPr>
        <p:spPr>
          <a:xfrm>
            <a:off x="11911071" y="7344561"/>
            <a:ext cx="4346753" cy="0"/>
          </a:xfrm>
          <a:prstGeom prst="line">
            <a:avLst/>
          </a:prstGeom>
          <a:ln w="57150" cap="flat">
            <a:solidFill>
              <a:srgbClr val="7994A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5D92E183-14DF-4DEB-9E42-7DC72605598E}"/>
              </a:ext>
            </a:extLst>
          </p:cNvPr>
          <p:cNvSpPr>
            <a:spLocks noGrp="1"/>
          </p:cNvSpPr>
          <p:nvPr/>
        </p:nvSpPr>
        <p:spPr>
          <a:xfrm flipV="1">
            <a:off x="1660540" y="8483796"/>
            <a:ext cx="4716390" cy="0"/>
          </a:xfrm>
          <a:prstGeom prst="line">
            <a:avLst/>
          </a:prstGeom>
          <a:ln w="57150" cap="flat">
            <a:solidFill>
              <a:srgbClr val="7994A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8C1861F-CDEB-4F7B-9FB1-A9BDA14BA77C}"/>
              </a:ext>
            </a:extLst>
          </p:cNvPr>
          <p:cNvSpPr>
            <a:spLocks noGrp="1"/>
          </p:cNvSpPr>
          <p:nvPr/>
        </p:nvSpPr>
        <p:spPr>
          <a:xfrm>
            <a:off x="1024414" y="599694"/>
            <a:ext cx="14072045" cy="1085183"/>
          </a:xfrm>
          <a:prstGeom prst="rect">
            <a:avLst/>
          </a:prstGeom>
          <a:noFill/>
          <a:ln>
            <a:noFill/>
          </a:ln>
        </p:spPr>
        <p:txBody>
          <a:bodyPr wrap="none" lIns="0" tIns="25415" rIns="0" bIns="0" anchor="t">
            <a:noAutofit/>
          </a:bodyPr>
          <a:lstStyle/>
          <a:p>
            <a:pPr algn="l">
              <a:buNone/>
            </a:pPr>
            <a:r>
              <a:rPr sz="6400" b="1">
                <a:solidFill>
                  <a:srgbClr val="0F4662"/>
                </a:solidFill>
                <a:latin typeface="SimSun"/>
                <a:ea typeface="SimSun"/>
                <a:cs typeface="SimSun"/>
              </a:rPr>
              <a:t>数值检查与异常审查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EAED370-8446-4071-819F-20F16CD9D04A}"/>
              </a:ext>
            </a:extLst>
          </p:cNvPr>
          <p:cNvSpPr>
            <a:spLocks noGrp="1"/>
          </p:cNvSpPr>
          <p:nvPr/>
        </p:nvSpPr>
        <p:spPr>
          <a:xfrm>
            <a:off x="1024414" y="3595497"/>
            <a:ext cx="5348192" cy="1253490"/>
          </a:xfrm>
          <a:prstGeom prst="rect">
            <a:avLst/>
          </a:prstGeom>
          <a:noFill/>
          <a:ln>
            <a:noFill/>
          </a:ln>
        </p:spPr>
        <p:txBody>
          <a:bodyPr wrap="none" lIns="0" tIns="-12673" rIns="0" bIns="0" anchor="t">
            <a:noAutofit/>
          </a:bodyPr>
          <a:lstStyle/>
          <a:p>
            <a:pPr algn="r">
              <a:lnSpc>
                <a:spcPts val="3600"/>
              </a:lnSpc>
              <a:buNone/>
            </a:pPr>
            <a:r>
              <a:rPr sz="2400">
                <a:solidFill>
                  <a:srgbClr val="0F4662"/>
                </a:solidFill>
                <a:latin typeface="Microsoft YaHei"/>
                <a:ea typeface="Microsoft YaHei"/>
                <a:cs typeface="Microsoft YaHei"/>
              </a:rPr>
              <a:t>温度范围：3.247至40.010</a:t>
            </a:r>
            <a:br>
              <a:rPr sz="2400">
                <a:solidFill>
                  <a:srgbClr val="0F4662"/>
                </a:solidFill>
                <a:latin typeface="Microsoft YaHei"/>
                <a:ea typeface="Microsoft YaHei"/>
                <a:cs typeface="Microsoft YaHei"/>
              </a:rPr>
            </a:br>
            <a:r>
              <a:rPr sz="2400">
                <a:solidFill>
                  <a:srgbClr val="0F4662"/>
                </a:solidFill>
                <a:latin typeface="Microsoft YaHei"/>
                <a:ea typeface="Microsoft YaHei"/>
                <a:cs typeface="Microsoft YaHei"/>
              </a:rPr>
              <a:t>湿度范围：11.340至94.800</a:t>
            </a:r>
            <a:br>
              <a:rPr sz="2400">
                <a:solidFill>
                  <a:srgbClr val="0F4662"/>
                </a:solidFill>
                <a:latin typeface="Microsoft YaHei"/>
                <a:ea typeface="Microsoft YaHei"/>
                <a:cs typeface="Microsoft YaHei"/>
              </a:rPr>
            </a:br>
            <a:r>
              <a:rPr sz="2400">
                <a:solidFill>
                  <a:srgbClr val="0F4662"/>
                </a:solidFill>
                <a:latin typeface="Microsoft YaHei"/>
                <a:ea typeface="Microsoft YaHei"/>
                <a:cs typeface="Microsoft YaHei"/>
              </a:rPr>
              <a:t>用描述统计核对数值范围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C22481D-CE86-4AB5-9409-47D25AF3A6DD}"/>
              </a:ext>
            </a:extLst>
          </p:cNvPr>
          <p:cNvSpPr>
            <a:spLocks noGrp="1"/>
          </p:cNvSpPr>
          <p:nvPr/>
        </p:nvSpPr>
        <p:spPr>
          <a:xfrm>
            <a:off x="1024414" y="3161824"/>
            <a:ext cx="5348192" cy="490823"/>
          </a:xfrm>
          <a:prstGeom prst="rect">
            <a:avLst/>
          </a:prstGeom>
          <a:noFill/>
          <a:ln>
            <a:noFill/>
          </a:ln>
        </p:spPr>
        <p:txBody>
          <a:bodyPr wrap="none" lIns="0" tIns="25395" rIns="0" bIns="0" anchor="t">
            <a:noAutofit/>
          </a:bodyPr>
          <a:lstStyle/>
          <a:p>
            <a:pPr algn="r">
              <a:buNone/>
            </a:pPr>
            <a:r>
              <a:rPr sz="2800" b="1">
                <a:solidFill>
                  <a:srgbClr val="0F4662"/>
                </a:solidFill>
                <a:latin typeface="Microsoft YaHei"/>
                <a:ea typeface="Microsoft YaHei"/>
                <a:cs typeface="Microsoft YaHei"/>
              </a:rPr>
              <a:t>描述统计核查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42BD973-DC98-4D24-A821-BE8C52A658A1}"/>
              </a:ext>
            </a:extLst>
          </p:cNvPr>
          <p:cNvSpPr>
            <a:spLocks noGrp="1"/>
          </p:cNvSpPr>
          <p:nvPr/>
        </p:nvSpPr>
        <p:spPr>
          <a:xfrm>
            <a:off x="11911108" y="4912900"/>
            <a:ext cx="5348192" cy="2091690"/>
          </a:xfrm>
          <a:prstGeom prst="rect">
            <a:avLst/>
          </a:prstGeom>
          <a:noFill/>
          <a:ln>
            <a:noFill/>
          </a:ln>
        </p:spPr>
        <p:txBody>
          <a:bodyPr wrap="none" lIns="0" tIns="-12667" rIns="0" bIns="0" anchor="t">
            <a:noAutofit/>
          </a:bodyPr>
          <a:lstStyle/>
          <a:p>
            <a:pPr algn="l">
              <a:lnSpc>
                <a:spcPts val="3600"/>
              </a:lnSpc>
              <a:buNone/>
            </a:pPr>
            <a:r>
              <a:rPr sz="2400">
                <a:solidFill>
                  <a:srgbClr val="0F4662"/>
                </a:solidFill>
                <a:latin typeface="Microsoft YaHei"/>
                <a:ea typeface="Microsoft YaHei"/>
                <a:cs typeface="Microsoft YaHei"/>
              </a:rPr>
              <a:t>风速低于0.2的占比为57.6%</a:t>
            </a:r>
            <a:br>
              <a:rPr sz="2400">
                <a:solidFill>
                  <a:srgbClr val="0F4662"/>
                </a:solidFill>
                <a:latin typeface="Microsoft YaHei"/>
                <a:ea typeface="Microsoft YaHei"/>
                <a:cs typeface="Microsoft YaHei"/>
              </a:rPr>
            </a:br>
            <a:r>
              <a:rPr sz="2400">
                <a:solidFill>
                  <a:srgbClr val="0F4662"/>
                </a:solidFill>
                <a:latin typeface="Microsoft YaHei"/>
                <a:ea typeface="Microsoft YaHei"/>
                <a:cs typeface="Microsoft YaHei"/>
              </a:rPr>
              <a:t>风速不低于4.8的占比为38.6%</a:t>
            </a:r>
            <a:br>
              <a:rPr sz="2400">
                <a:solidFill>
                  <a:srgbClr val="0F4662"/>
                </a:solidFill>
                <a:latin typeface="Microsoft YaHei"/>
                <a:ea typeface="Microsoft YaHei"/>
                <a:cs typeface="Microsoft YaHei"/>
              </a:rPr>
            </a:br>
            <a:r>
              <a:rPr sz="2400">
                <a:solidFill>
                  <a:srgbClr val="0F4662"/>
                </a:solidFill>
                <a:latin typeface="Microsoft YaHei"/>
                <a:ea typeface="Microsoft YaHei"/>
                <a:cs typeface="Microsoft YaHei"/>
              </a:rPr>
              <a:t>笔记本显示明显双峰分布</a:t>
            </a:r>
            <a:br>
              <a:rPr sz="2400">
                <a:solidFill>
                  <a:srgbClr val="0F4662"/>
                </a:solidFill>
                <a:latin typeface="Microsoft YaHei"/>
                <a:ea typeface="Microsoft YaHei"/>
                <a:cs typeface="Microsoft YaHei"/>
              </a:rPr>
            </a:br>
            <a:r>
              <a:rPr sz="2400">
                <a:solidFill>
                  <a:srgbClr val="0F4662"/>
                </a:solidFill>
                <a:latin typeface="Microsoft YaHei"/>
                <a:ea typeface="Microsoft YaHei"/>
                <a:cs typeface="Microsoft YaHei"/>
              </a:rPr>
              <a:t>分布差异仍需结合业务判断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3D3892C-CDDA-413C-B34B-84BC078319CD}"/>
              </a:ext>
            </a:extLst>
          </p:cNvPr>
          <p:cNvSpPr>
            <a:spLocks noGrp="1"/>
          </p:cNvSpPr>
          <p:nvPr/>
        </p:nvSpPr>
        <p:spPr>
          <a:xfrm>
            <a:off x="11911108" y="4507325"/>
            <a:ext cx="5348192" cy="490823"/>
          </a:xfrm>
          <a:prstGeom prst="rect">
            <a:avLst/>
          </a:prstGeom>
          <a:noFill/>
          <a:ln>
            <a:noFill/>
          </a:ln>
        </p:spPr>
        <p:txBody>
          <a:bodyPr wrap="none" lIns="0" tIns="25435" rIns="0" bIns="0" anchor="t">
            <a:noAutofit/>
          </a:bodyPr>
          <a:lstStyle/>
          <a:p>
            <a:pPr algn="l">
              <a:buNone/>
            </a:pPr>
            <a:r>
              <a:rPr sz="2800" b="1">
                <a:solidFill>
                  <a:srgbClr val="0F4662"/>
                </a:solidFill>
                <a:latin typeface="Microsoft YaHei"/>
                <a:ea typeface="Microsoft YaHei"/>
                <a:cs typeface="Microsoft YaHei"/>
              </a:rPr>
              <a:t>风速双峰现象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93520DB-BBF4-4997-9E63-43E2408E5976}"/>
              </a:ext>
            </a:extLst>
          </p:cNvPr>
          <p:cNvSpPr>
            <a:spLocks noGrp="1"/>
          </p:cNvSpPr>
          <p:nvPr/>
        </p:nvSpPr>
        <p:spPr>
          <a:xfrm>
            <a:off x="1024414" y="6990398"/>
            <a:ext cx="5352574" cy="1253490"/>
          </a:xfrm>
          <a:prstGeom prst="rect">
            <a:avLst/>
          </a:prstGeom>
          <a:noFill/>
          <a:ln>
            <a:noFill/>
          </a:ln>
        </p:spPr>
        <p:txBody>
          <a:bodyPr wrap="none" lIns="0" tIns="-12673" rIns="95" bIns="0" anchor="t">
            <a:noAutofit/>
          </a:bodyPr>
          <a:lstStyle/>
          <a:p>
            <a:pPr algn="r">
              <a:lnSpc>
                <a:spcPts val="3600"/>
              </a:lnSpc>
              <a:buNone/>
            </a:pPr>
            <a:r>
              <a:rPr sz="2400">
                <a:solidFill>
                  <a:srgbClr val="0F4662"/>
                </a:solidFill>
                <a:latin typeface="Microsoft YaHei"/>
                <a:ea typeface="Microsoft YaHei"/>
                <a:cs typeface="Microsoft YaHei"/>
              </a:rPr>
              <a:t>当前未执行异常值剔除或替换</a:t>
            </a:r>
            <a:br>
              <a:rPr sz="2400">
                <a:solidFill>
                  <a:srgbClr val="0F4662"/>
                </a:solidFill>
                <a:latin typeface="Microsoft YaHei"/>
                <a:ea typeface="Microsoft YaHei"/>
                <a:cs typeface="Microsoft YaHei"/>
              </a:rPr>
            </a:br>
            <a:r>
              <a:rPr sz="2400">
                <a:solidFill>
                  <a:srgbClr val="0F4662"/>
                </a:solidFill>
                <a:latin typeface="Microsoft YaHei"/>
                <a:ea typeface="Microsoft YaHei"/>
                <a:cs typeface="Microsoft YaHei"/>
              </a:rPr>
              <a:t>保留原值并记录风速分布疑点</a:t>
            </a:r>
            <a:br>
              <a:rPr sz="2400">
                <a:solidFill>
                  <a:srgbClr val="0F4662"/>
                </a:solidFill>
                <a:latin typeface="Microsoft YaHei"/>
                <a:ea typeface="Microsoft YaHei"/>
                <a:cs typeface="Microsoft YaHei"/>
              </a:rPr>
            </a:br>
            <a:r>
              <a:rPr sz="2400">
                <a:solidFill>
                  <a:srgbClr val="0F4662"/>
                </a:solidFill>
                <a:latin typeface="Microsoft YaHei"/>
                <a:ea typeface="Microsoft YaHei"/>
                <a:cs typeface="Microsoft YaHei"/>
              </a:rPr>
              <a:t>不能将双峰直接判定为错误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D828D1D-29F8-4EB5-BF3F-CB79C0896CAF}"/>
              </a:ext>
            </a:extLst>
          </p:cNvPr>
          <p:cNvSpPr>
            <a:spLocks noGrp="1"/>
          </p:cNvSpPr>
          <p:nvPr/>
        </p:nvSpPr>
        <p:spPr>
          <a:xfrm>
            <a:off x="1024414" y="6556724"/>
            <a:ext cx="5352574" cy="490823"/>
          </a:xfrm>
          <a:prstGeom prst="rect">
            <a:avLst/>
          </a:prstGeom>
          <a:noFill/>
          <a:ln>
            <a:noFill/>
          </a:ln>
        </p:spPr>
        <p:txBody>
          <a:bodyPr wrap="none" lIns="0" tIns="25395" rIns="95" bIns="0" anchor="t">
            <a:noAutofit/>
          </a:bodyPr>
          <a:lstStyle/>
          <a:p>
            <a:pPr algn="r">
              <a:buNone/>
            </a:pPr>
            <a:r>
              <a:rPr sz="2800" b="1">
                <a:solidFill>
                  <a:srgbClr val="0F4662"/>
                </a:solidFill>
                <a:latin typeface="Microsoft YaHei"/>
                <a:ea typeface="Microsoft YaHei"/>
                <a:cs typeface="Microsoft YaHei"/>
              </a:rPr>
              <a:t>异常处理边界</a:t>
            </a: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82F0A0A5-5221-4536-8B75-C2C6C0BB344C}"/>
              </a:ext>
            </a:extLst>
          </p:cNvPr>
          <p:cNvSpPr>
            <a:spLocks noGrp="1"/>
          </p:cNvSpPr>
          <p:nvPr/>
        </p:nvSpPr>
        <p:spPr>
          <a:xfrm>
            <a:off x="15579303" y="714009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D0096E8D-43DB-4090-94EE-799DE7CCA35E}"/>
              </a:ext>
            </a:extLst>
          </p:cNvPr>
          <p:cNvSpPr>
            <a:spLocks noGrp="1"/>
          </p:cNvSpPr>
          <p:nvPr/>
        </p:nvSpPr>
        <p:spPr>
          <a:xfrm>
            <a:off x="1024384" y="9529723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038931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87BD20BA-4976-4AAE-AAB5-BD5E0BD92EA9}"/>
              </a:ext>
            </a:extLst>
          </p:cNvPr>
          <p:cNvSpPr>
            <a:spLocks noGrp="1"/>
          </p:cNvSpPr>
          <p:nvPr/>
        </p:nvSpPr>
        <p:spPr>
          <a:xfrm>
            <a:off x="1028700" y="599694"/>
            <a:ext cx="11534775" cy="1085183"/>
          </a:xfrm>
          <a:prstGeom prst="rect">
            <a:avLst/>
          </a:prstGeom>
          <a:noFill/>
          <a:ln>
            <a:noFill/>
          </a:ln>
        </p:spPr>
        <p:txBody>
          <a:bodyPr wrap="none" lIns="0" tIns="25415" rIns="0" bIns="0" anchor="t">
            <a:noAutofit/>
          </a:bodyPr>
          <a:lstStyle/>
          <a:p>
            <a:pPr algn="l">
              <a:buNone/>
            </a:pPr>
            <a:r>
              <a:rPr sz="6400" b="1" dirty="0" err="1">
                <a:solidFill>
                  <a:srgbClr val="0F4662"/>
                </a:solidFill>
                <a:latin typeface="SimSun"/>
                <a:ea typeface="SimSun"/>
                <a:cs typeface="SimSun"/>
              </a:rPr>
              <a:t>预处理结果与后续衔接</a:t>
            </a:r>
            <a:endParaRPr sz="6400" b="1" dirty="0">
              <a:solidFill>
                <a:srgbClr val="0F4662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459D262D-BB26-425A-89AE-BBF3F1751ABA}"/>
              </a:ext>
            </a:extLst>
          </p:cNvPr>
          <p:cNvSpPr>
            <a:spLocks noGrp="1"/>
          </p:cNvSpPr>
          <p:nvPr/>
        </p:nvSpPr>
        <p:spPr>
          <a:xfrm>
            <a:off x="3816287" y="4231196"/>
            <a:ext cx="10655522" cy="1514475"/>
          </a:xfrm>
          <a:prstGeom prst="rect">
            <a:avLst/>
          </a:prstGeom>
          <a:noFill/>
          <a:ln>
            <a:noFill/>
          </a:ln>
        </p:spPr>
        <p:txBody>
          <a:bodyPr wrap="none" lIns="0" tIns="50788" rIns="95" bIns="0" anchor="t">
            <a:noAutofit/>
          </a:bodyPr>
          <a:lstStyle/>
          <a:p>
            <a:pPr algn="ctr">
              <a:lnSpc>
                <a:spcPts val="3600"/>
              </a:lnSpc>
              <a:buNone/>
            </a:pPr>
            <a:r>
              <a:rPr sz="2400">
                <a:solidFill>
                  <a:srgbClr val="0F4662"/>
                </a:solidFill>
                <a:latin typeface="Microsoft YaHei"/>
                <a:ea typeface="Microsoft YaHei"/>
                <a:cs typeface="Microsoft YaHei"/>
              </a:rPr>
              <a:t>完成列名规整、时间解析与排序，形成统一时间索引</a:t>
            </a:r>
            <a:br>
              <a:rPr sz="2400">
                <a:solidFill>
                  <a:srgbClr val="0F4662"/>
                </a:solidFill>
                <a:latin typeface="Microsoft YaHei"/>
                <a:ea typeface="Microsoft YaHei"/>
                <a:cs typeface="Microsoft YaHei"/>
              </a:rPr>
            </a:br>
            <a:r>
              <a:rPr sz="2400">
                <a:solidFill>
                  <a:srgbClr val="0F4662"/>
                </a:solidFill>
                <a:latin typeface="Microsoft YaHei"/>
                <a:ea typeface="Microsoft YaHei"/>
                <a:cs typeface="Microsoft YaHei"/>
              </a:rPr>
              <a:t>保留52,416条记录与8个数值字段，无需补缺或去重</a:t>
            </a:r>
            <a:br>
              <a:rPr sz="2400">
                <a:solidFill>
                  <a:srgbClr val="0F4662"/>
                </a:solidFill>
                <a:latin typeface="Microsoft YaHei"/>
                <a:ea typeface="Microsoft YaHei"/>
                <a:cs typeface="Microsoft YaHei"/>
              </a:rPr>
            </a:br>
            <a:r>
              <a:rPr sz="2400">
                <a:solidFill>
                  <a:srgbClr val="0F4662"/>
                </a:solidFill>
                <a:latin typeface="Microsoft YaHei"/>
                <a:ea typeface="Microsoft YaHei"/>
                <a:cs typeface="Microsoft YaHei"/>
              </a:rPr>
              <a:t>后续开展时间规律分析、气象相关性分析与短期负荷建模</a:t>
            </a: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9821C322-7F1C-4028-B297-DD7D7AD92DF3}"/>
              </a:ext>
            </a:extLst>
          </p:cNvPr>
          <p:cNvSpPr>
            <a:spLocks noGrp="1"/>
          </p:cNvSpPr>
          <p:nvPr/>
        </p:nvSpPr>
        <p:spPr>
          <a:xfrm>
            <a:off x="5897880" y="3568974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5283CE25-1C32-4652-8C65-9633D8BEB370}"/>
              </a:ext>
            </a:extLst>
          </p:cNvPr>
          <p:cNvSpPr>
            <a:spLocks noGrp="1"/>
          </p:cNvSpPr>
          <p:nvPr/>
        </p:nvSpPr>
        <p:spPr>
          <a:xfrm>
            <a:off x="5897880" y="7171009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AB439F7C-E260-46D6-BF58-33C3C9A54475}"/>
              </a:ext>
            </a:extLst>
          </p:cNvPr>
          <p:cNvSpPr>
            <a:spLocks noGrp="1"/>
          </p:cNvSpPr>
          <p:nvPr/>
        </p:nvSpPr>
        <p:spPr>
          <a:xfrm>
            <a:off x="8304001" y="2470557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C7C7EFDC-B0B3-4453-9E22-2782F6CC607F}"/>
              </a:ext>
            </a:extLst>
          </p:cNvPr>
          <p:cNvSpPr>
            <a:spLocks noGrp="1"/>
          </p:cNvSpPr>
          <p:nvPr/>
        </p:nvSpPr>
        <p:spPr>
          <a:xfrm>
            <a:off x="8304001" y="8019527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8454608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204</Words>
  <Application>Microsoft Office PowerPoint</Application>
  <DocSecurity>0</DocSecurity>
  <PresentationFormat>自定义</PresentationFormat>
  <Paragraphs>49</Paragraphs>
  <Slides>7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新宋体</vt:lpstr>
      <vt:lpstr>Microsoft YaHei</vt:lpstr>
      <vt:lpstr>Cormorant Garamond Bold Italics</vt:lpstr>
      <vt:lpstr>Calibri</vt:lpstr>
      <vt:lpstr>SimSun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ra lugglepiggle</cp:lastModifiedBy>
  <cp:revision>7</cp:revision>
  <dcterms:created xsi:type="dcterms:W3CDTF">2026-10-30T04:21:09Z</dcterms:created>
  <dcterms:modified xsi:type="dcterms:W3CDTF">2026-10-30T05:16:33Z</dcterms:modified>
</cp:coreProperties>
</file>